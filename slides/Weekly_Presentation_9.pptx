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43D3A-4D87-4439-A865-79C17B54165C}" v="1" dt="2026-08-25T21:58:34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chwas Talukder Utsha" userId="5d00aebb-9da7-4eec-b6b4-d48dd93a6925" providerId="ADAL" clId="{2696736A-EC31-4DCA-9887-52CDAA7E4777}"/>
    <pc:docChg chg="custSel modSld">
      <pc:chgData name="Ucchwas Talukder Utsha" userId="5d00aebb-9da7-4eec-b6b4-d48dd93a6925" providerId="ADAL" clId="{2696736A-EC31-4DCA-9887-52CDAA7E4777}" dt="2026-08-25T22:00:59.521" v="16" actId="478"/>
      <pc:docMkLst>
        <pc:docMk/>
      </pc:docMkLst>
      <pc:sldChg chg="delSp modSp mod">
        <pc:chgData name="Ucchwas Talukder Utsha" userId="5d00aebb-9da7-4eec-b6b4-d48dd93a6925" providerId="ADAL" clId="{2696736A-EC31-4DCA-9887-52CDAA7E4777}" dt="2026-08-25T21:58:07.462" v="6" actId="478"/>
        <pc:sldMkLst>
          <pc:docMk/>
          <pc:sldMk cId="3923863566" sldId="256"/>
        </pc:sldMkLst>
        <pc:spChg chg="mod">
          <ac:chgData name="Ucchwas Talukder Utsha" userId="5d00aebb-9da7-4eec-b6b4-d48dd93a6925" providerId="ADAL" clId="{2696736A-EC31-4DCA-9887-52CDAA7E4777}" dt="2026-08-25T21:52:35.524" v="0" actId="20577"/>
          <ac:spMkLst>
            <pc:docMk/>
            <pc:sldMk cId="3923863566" sldId="256"/>
            <ac:spMk id="3" creationId="{99446ECB-71E4-6941-979D-9563421863F1}"/>
          </ac:spMkLst>
        </pc:spChg>
        <pc:spChg chg="del">
          <ac:chgData name="Ucchwas Talukder Utsha" userId="5d00aebb-9da7-4eec-b6b4-d48dd93a6925" providerId="ADAL" clId="{2696736A-EC31-4DCA-9887-52CDAA7E4777}" dt="2026-08-25T21:53:05.421" v="1" actId="478"/>
          <ac:spMkLst>
            <pc:docMk/>
            <pc:sldMk cId="3923863566" sldId="256"/>
            <ac:spMk id="8" creationId="{58DC8777-16C2-4CDB-2240-0287FFBAFD5D}"/>
          </ac:spMkLst>
        </pc:spChg>
        <pc:spChg chg="del">
          <ac:chgData name="Ucchwas Talukder Utsha" userId="5d00aebb-9da7-4eec-b6b4-d48dd93a6925" providerId="ADAL" clId="{2696736A-EC31-4DCA-9887-52CDAA7E4777}" dt="2026-08-25T21:53:09.393" v="2" actId="478"/>
          <ac:spMkLst>
            <pc:docMk/>
            <pc:sldMk cId="3923863566" sldId="256"/>
            <ac:spMk id="33" creationId="{0C3E0A2A-8569-97EE-61E2-3288F73B30BA}"/>
          </ac:spMkLst>
        </pc:spChg>
        <pc:spChg chg="del">
          <ac:chgData name="Ucchwas Talukder Utsha" userId="5d00aebb-9da7-4eec-b6b4-d48dd93a6925" providerId="ADAL" clId="{2696736A-EC31-4DCA-9887-52CDAA7E4777}" dt="2026-08-25T21:53:13.656" v="3" actId="478"/>
          <ac:spMkLst>
            <pc:docMk/>
            <pc:sldMk cId="3923863566" sldId="256"/>
            <ac:spMk id="61" creationId="{351BC568-1D19-3F3F-48A7-F8C0BF9FE244}"/>
          </ac:spMkLst>
        </pc:spChg>
        <pc:spChg chg="mod">
          <ac:chgData name="Ucchwas Talukder Utsha" userId="5d00aebb-9da7-4eec-b6b4-d48dd93a6925" providerId="ADAL" clId="{2696736A-EC31-4DCA-9887-52CDAA7E4777}" dt="2026-08-25T21:54:51.441" v="5" actId="20577"/>
          <ac:spMkLst>
            <pc:docMk/>
            <pc:sldMk cId="3923863566" sldId="256"/>
            <ac:spMk id="84" creationId="{6971B7C5-9EE1-A42B-B4F8-BEA24E174D96}"/>
          </ac:spMkLst>
        </pc:spChg>
        <pc:spChg chg="del">
          <ac:chgData name="Ucchwas Talukder Utsha" userId="5d00aebb-9da7-4eec-b6b4-d48dd93a6925" providerId="ADAL" clId="{2696736A-EC31-4DCA-9887-52CDAA7E4777}" dt="2026-08-25T21:58:07.462" v="6" actId="478"/>
          <ac:spMkLst>
            <pc:docMk/>
            <pc:sldMk cId="3923863566" sldId="256"/>
            <ac:spMk id="85" creationId="{287FEA57-0BB3-1A31-1194-2624815A7ECD}"/>
          </ac:spMkLst>
        </pc:spChg>
      </pc:sldChg>
      <pc:sldChg chg="delSp modSp mod">
        <pc:chgData name="Ucchwas Talukder Utsha" userId="5d00aebb-9da7-4eec-b6b4-d48dd93a6925" providerId="ADAL" clId="{2696736A-EC31-4DCA-9887-52CDAA7E4777}" dt="2026-08-25T22:00:59.521" v="16" actId="478"/>
        <pc:sldMkLst>
          <pc:docMk/>
          <pc:sldMk cId="479762732" sldId="257"/>
        </pc:sldMkLst>
        <pc:spChg chg="mod">
          <ac:chgData name="Ucchwas Talukder Utsha" userId="5d00aebb-9da7-4eec-b6b4-d48dd93a6925" providerId="ADAL" clId="{2696736A-EC31-4DCA-9887-52CDAA7E4777}" dt="2026-08-25T21:58:39.476" v="9" actId="1076"/>
          <ac:spMkLst>
            <pc:docMk/>
            <pc:sldMk cId="479762732" sldId="257"/>
            <ac:spMk id="33" creationId="{C6E43D29-1B93-C687-DB46-6EC261D43C85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35" creationId="{64BEC20A-9916-2CC6-0E13-41C6463B4BE8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37" creationId="{2D4EDB54-C50E-B32F-9DBF-1E73EACCC662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38" creationId="{95DCD3AF-1C93-0728-E697-B2F52013C3FA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41" creationId="{E9C2A504-33C7-B780-079A-94D39D560A0B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42" creationId="{9C91651E-53C2-AB59-8AC3-70FDCFA401C0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45" creationId="{02F949D5-76FF-0D05-13A3-736813F782A5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46" creationId="{947F3C8A-C744-B0BF-CC75-32668E35381A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49" creationId="{BDA13F28-F917-58D6-CE8D-B470BEE41A7F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54" creationId="{4F658126-9315-4F64-CC35-5FF5E703E573}"/>
          </ac:spMkLst>
        </pc:spChg>
        <pc:spChg chg="del">
          <ac:chgData name="Ucchwas Talukder Utsha" userId="5d00aebb-9da7-4eec-b6b4-d48dd93a6925" providerId="ADAL" clId="{2696736A-EC31-4DCA-9887-52CDAA7E4777}" dt="2026-08-25T21:58:34.533" v="8" actId="478"/>
          <ac:spMkLst>
            <pc:docMk/>
            <pc:sldMk cId="479762732" sldId="257"/>
            <ac:spMk id="61" creationId="{B61EAA60-2FB5-1FC5-ECA0-A28C6343F3C2}"/>
          </ac:spMkLst>
        </pc:spChg>
        <pc:spChg chg="del">
          <ac:chgData name="Ucchwas Talukder Utsha" userId="5d00aebb-9da7-4eec-b6b4-d48dd93a6925" providerId="ADAL" clId="{2696736A-EC31-4DCA-9887-52CDAA7E4777}" dt="2026-08-25T21:58:28.923" v="7" actId="478"/>
          <ac:spMkLst>
            <pc:docMk/>
            <pc:sldMk cId="479762732" sldId="257"/>
            <ac:spMk id="63" creationId="{921A04D1-5EE7-A32F-5554-FD5C508C8CF7}"/>
          </ac:spMkLst>
        </pc:spChg>
        <pc:spChg chg="mod">
          <ac:chgData name="Ucchwas Talukder Utsha" userId="5d00aebb-9da7-4eec-b6b4-d48dd93a6925" providerId="ADAL" clId="{2696736A-EC31-4DCA-9887-52CDAA7E4777}" dt="2026-08-25T22:00:03.202" v="11" actId="1076"/>
          <ac:spMkLst>
            <pc:docMk/>
            <pc:sldMk cId="479762732" sldId="257"/>
            <ac:spMk id="64" creationId="{C400F7A6-ED6F-903E-5A34-A7598377B3CE}"/>
          </ac:spMkLst>
        </pc:spChg>
        <pc:spChg chg="del">
          <ac:chgData name="Ucchwas Talukder Utsha" userId="5d00aebb-9da7-4eec-b6b4-d48dd93a6925" providerId="ADAL" clId="{2696736A-EC31-4DCA-9887-52CDAA7E4777}" dt="2026-08-25T21:59:58.839" v="10" actId="478"/>
          <ac:spMkLst>
            <pc:docMk/>
            <pc:sldMk cId="479762732" sldId="257"/>
            <ac:spMk id="65" creationId="{728624C5-0658-22AF-2CF3-0FE05578DE09}"/>
          </ac:spMkLst>
        </pc:spChg>
        <pc:spChg chg="mod">
          <ac:chgData name="Ucchwas Talukder Utsha" userId="5d00aebb-9da7-4eec-b6b4-d48dd93a6925" providerId="ADAL" clId="{2696736A-EC31-4DCA-9887-52CDAA7E4777}" dt="2026-08-25T22:00:06.852" v="12" actId="1076"/>
          <ac:spMkLst>
            <pc:docMk/>
            <pc:sldMk cId="479762732" sldId="257"/>
            <ac:spMk id="66" creationId="{3851DF72-4C52-D851-98C5-D48F38DFEB16}"/>
          </ac:spMkLst>
        </pc:spChg>
        <pc:spChg chg="mod">
          <ac:chgData name="Ucchwas Talukder Utsha" userId="5d00aebb-9da7-4eec-b6b4-d48dd93a6925" providerId="ADAL" clId="{2696736A-EC31-4DCA-9887-52CDAA7E4777}" dt="2026-08-25T22:00:22.905" v="13" actId="20577"/>
          <ac:spMkLst>
            <pc:docMk/>
            <pc:sldMk cId="479762732" sldId="257"/>
            <ac:spMk id="67" creationId="{8BEFC2F4-C859-0C3A-5A15-8D8C0166A750}"/>
          </ac:spMkLst>
        </pc:spChg>
        <pc:spChg chg="del">
          <ac:chgData name="Ucchwas Talukder Utsha" userId="5d00aebb-9da7-4eec-b6b4-d48dd93a6925" providerId="ADAL" clId="{2696736A-EC31-4DCA-9887-52CDAA7E4777}" dt="2026-08-25T22:00:27.423" v="14" actId="478"/>
          <ac:spMkLst>
            <pc:docMk/>
            <pc:sldMk cId="479762732" sldId="257"/>
            <ac:spMk id="68" creationId="{86A32EFA-6319-4730-05B8-A6F790BE0847}"/>
          </ac:spMkLst>
        </pc:spChg>
        <pc:spChg chg="del">
          <ac:chgData name="Ucchwas Talukder Utsha" userId="5d00aebb-9da7-4eec-b6b4-d48dd93a6925" providerId="ADAL" clId="{2696736A-EC31-4DCA-9887-52CDAA7E4777}" dt="2026-08-25T22:00:27.423" v="14" actId="478"/>
          <ac:spMkLst>
            <pc:docMk/>
            <pc:sldMk cId="479762732" sldId="257"/>
            <ac:spMk id="69" creationId="{12E3C200-DF54-E13C-143E-BBAC5AFC9154}"/>
          </ac:spMkLst>
        </pc:spChg>
        <pc:spChg chg="del">
          <ac:chgData name="Ucchwas Talukder Utsha" userId="5d00aebb-9da7-4eec-b6b4-d48dd93a6925" providerId="ADAL" clId="{2696736A-EC31-4DCA-9887-52CDAA7E4777}" dt="2026-08-25T22:00:57.037" v="15" actId="478"/>
          <ac:spMkLst>
            <pc:docMk/>
            <pc:sldMk cId="479762732" sldId="257"/>
            <ac:spMk id="85" creationId="{D4AA52FA-CE8F-7561-474E-1D33666B0EF9}"/>
          </ac:spMkLst>
        </pc:spChg>
        <pc:cxnChg chg="del">
          <ac:chgData name="Ucchwas Talukder Utsha" userId="5d00aebb-9da7-4eec-b6b4-d48dd93a6925" providerId="ADAL" clId="{2696736A-EC31-4DCA-9887-52CDAA7E4777}" dt="2026-08-25T22:00:27.423" v="14" actId="478"/>
          <ac:cxnSpMkLst>
            <pc:docMk/>
            <pc:sldMk cId="479762732" sldId="257"/>
            <ac:cxnSpMk id="70" creationId="{294F1D3B-898B-13E7-FAED-C50A988C41A2}"/>
          </ac:cxnSpMkLst>
        </pc:cxnChg>
        <pc:cxnChg chg="del">
          <ac:chgData name="Ucchwas Talukder Utsha" userId="5d00aebb-9da7-4eec-b6b4-d48dd93a6925" providerId="ADAL" clId="{2696736A-EC31-4DCA-9887-52CDAA7E4777}" dt="2026-08-25T22:00:59.521" v="16" actId="478"/>
          <ac:cxnSpMkLst>
            <pc:docMk/>
            <pc:sldMk cId="479762732" sldId="257"/>
            <ac:cxnSpMk id="86" creationId="{7971C400-00B3-BA23-B97D-B88A28D69FD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5BD6-1082-582F-022B-2569ECEDD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5C702-0D15-573F-A777-14B3BE0DD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DAAFE-F3ED-BB5C-C204-FECAB30E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03DB6-28CF-017F-B7E7-7AD06BC52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1AAE5-3DDB-1485-0DF7-B09746DD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D783-F2F8-DE4E-B542-183B773A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D812-24CE-D958-4B79-5C1804570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47A7-E3E3-B249-A246-E6F6E634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9444C-C45F-EA87-B344-65ED5706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D2A0F-EDC8-233A-3633-299AE6FD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5DF1-633B-A95E-D09A-E4BA10CF8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B712C-965F-C98F-865E-54B5127B7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E54F-AE1E-BD52-BE58-7631DBD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3C8-E93F-C8BE-2DAB-06B9CD34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051C-3947-6A32-60F8-1C0B61ED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5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F173-B4D9-1E4F-E697-977418F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3006-042D-249C-F0E4-2CAC520CB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328C3-7860-FA16-A5F4-EE8110765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6ABDE-A3EB-04B1-374B-EBC2D81C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61CA5-5CB9-89F8-0053-D46FDC03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9D36-446C-D137-496A-56484DE2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9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FEE7-44B3-69E5-6024-DA7CB911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40E20-5FC6-24D4-566F-CB35610B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2756D-DC77-ABEF-CECE-B8D776170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D5ACB-646E-861E-F937-3440773C9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2C378-0EB7-91DC-D66D-764A7988A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FC8F7-83B2-0E16-87DA-54D4F658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9B560-57BC-B451-C7D7-F7315C95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3DD40-7550-CF74-5CC6-9516D7AC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5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DDD6-EB71-B505-BADE-94FD9EED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880F3-3EDC-9ED0-8949-B779D2CE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E7EE0-F3A1-BA66-EA78-773F9D65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D3367-DE85-009B-375E-094869D9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89A03-DDE6-CB22-2B7B-271D0BE6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295AD-F586-04C2-2876-BFF89EAF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B840A-CCCF-DD06-141E-C580EB32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4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6A13-4E5F-9D5A-6961-BCFA7CBD4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E8A4-8469-7051-EAD7-1DE7BD46B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8D593-3CFB-626F-1067-E12C2C531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02967-2BD5-8F7E-B071-0FE267B0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15D53-E0AF-1C28-6EB3-4747C4C3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83B22-9112-9590-BE07-775ABE5F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9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CAFC-3F34-0CFA-F560-66D29DE9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7201D-2CCE-920B-9BB2-6405C6687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8F95F-8556-BF74-AFC3-7B9173627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244FE-53D1-D164-9D54-FF6C1963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FA1F0-A0B2-CD04-9D81-13097A22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228BA-4429-E18B-2246-BFF75ED2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17AA-A6C6-DDA3-F346-C2BC60CF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03BBC-2F82-5373-701F-7505253EA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6FF76-DA5A-88F7-81B3-D0DC7FD5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37967-73CF-AF6D-B794-DAB1733A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56513-008B-85D3-EEDF-6187C93E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2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F43E1-0AEB-8C1F-7A6C-26566FB36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3BD74-3CDE-4FDC-B817-9CD274B0F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A50EB-FFC9-A7CC-7DFF-A64003BF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8C5F2-62A6-88CE-B7C5-5137E771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93F43-A2CE-24E2-21A3-61655D91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B849E-C578-6EBF-BC9F-8B2590F9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6E4A8-D426-E445-3A91-BC2A89B68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6AD3D-198B-F54C-564F-68F4C4BAF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B0F90-1BBC-4BA7-9BE0-DC658A3BAA5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21465-80F1-DB92-15D9-38C571CBD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D1697-398C-E36D-765B-FE9DB718D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89FB9-0301-4291-B24D-FA7FDF74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8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5862" TargetMode="External"/><Relationship Id="rId2" Type="http://schemas.openxmlformats.org/officeDocument/2006/relationships/hyperlink" Target="https://arxiv.org/abs/2310.04560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2605.10247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lated wor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8AC02AB3-4EE8-FA1B-16D0-E0BF937EE53B}"/>
              </a:ext>
            </a:extLst>
          </p:cNvPr>
          <p:cNvSpPr txBox="1"/>
          <p:nvPr/>
        </p:nvSpPr>
        <p:spPr>
          <a:xfrm>
            <a:off x="508000" y="203200"/>
            <a:ext cx="1117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2A9D8F"/>
                </a:solidFill>
                <a:latin typeface="Aptos" panose="020B0004020202020204" pitchFamily="34" charset="0"/>
              </a:rPr>
              <a:t>RELATED WORK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99446ECB-71E4-6941-979D-9563421863F1}"/>
              </a:ext>
            </a:extLst>
          </p:cNvPr>
          <p:cNvSpPr txBox="1"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 dirty="0">
                <a:solidFill>
                  <a:srgbClr val="172B4D"/>
                </a:solidFill>
                <a:latin typeface="Aptos" panose="020B0004020202020204" pitchFamily="34" charset="0"/>
              </a:rPr>
              <a:t>How do LLMs read graphs?</a:t>
            </a:r>
          </a:p>
        </p:txBody>
      </p:sp>
      <p:sp>
        <p:nvSpPr>
          <p:cNvPr id="4" name="SlideSubtitle">
            <a:extLst>
              <a:ext uri="{FF2B5EF4-FFF2-40B4-BE49-F238E27FC236}">
                <a16:creationId xmlns:a16="http://schemas.microsoft.com/office/drawing/2014/main" id="{E6B8CE9B-6260-14D8-0C68-8382B1D4F439}"/>
              </a:ext>
            </a:extLst>
          </p:cNvPr>
          <p:cNvSpPr txBox="1"/>
          <p:nvPr/>
        </p:nvSpPr>
        <p:spPr>
          <a:xfrm>
            <a:off x="508000" y="1041400"/>
            <a:ext cx="1117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2657A"/>
                </a:solidFill>
                <a:latin typeface="Aptos" panose="020B0004020202020204" pitchFamily="34" charset="0"/>
              </a:rPr>
              <a:t>Three simple ways to bring a graph into an LLM</a:t>
            </a:r>
          </a:p>
        </p:txBody>
      </p:sp>
      <p:sp>
        <p:nvSpPr>
          <p:cNvPr id="5" name="Card-TLAG">
            <a:extLst>
              <a:ext uri="{FF2B5EF4-FFF2-40B4-BE49-F238E27FC236}">
                <a16:creationId xmlns:a16="http://schemas.microsoft.com/office/drawing/2014/main" id="{A416701F-A02D-AE6F-661E-33B69F230F22}"/>
              </a:ext>
            </a:extLst>
          </p:cNvPr>
          <p:cNvSpPr/>
          <p:nvPr/>
        </p:nvSpPr>
        <p:spPr>
          <a:xfrm>
            <a:off x="457200" y="1524000"/>
            <a:ext cx="3606800" cy="3860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cent-TLAG">
            <a:extLst>
              <a:ext uri="{FF2B5EF4-FFF2-40B4-BE49-F238E27FC236}">
                <a16:creationId xmlns:a16="http://schemas.microsoft.com/office/drawing/2014/main" id="{70A78BA8-B19C-8C45-B9E0-50BCADFFAE7A}"/>
              </a:ext>
            </a:extLst>
          </p:cNvPr>
          <p:cNvSpPr/>
          <p:nvPr/>
        </p:nvSpPr>
        <p:spPr>
          <a:xfrm>
            <a:off x="635000" y="1701800"/>
            <a:ext cx="63500" cy="381000"/>
          </a:xfrm>
          <a:prstGeom prst="roundRect">
            <a:avLst/>
          </a:prstGeom>
          <a:solidFill>
            <a:srgbClr val="D99B2B"/>
          </a:solidFill>
          <a:ln w="12700">
            <a:solidFill>
              <a:srgbClr val="D99B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-TLAG">
            <a:extLst>
              <a:ext uri="{FF2B5EF4-FFF2-40B4-BE49-F238E27FC236}">
                <a16:creationId xmlns:a16="http://schemas.microsoft.com/office/drawing/2014/main" id="{D6C7782C-75B0-B09D-A558-7CC1CC5CDBF2}"/>
              </a:ext>
            </a:extLst>
          </p:cNvPr>
          <p:cNvSpPr txBox="1"/>
          <p:nvPr/>
        </p:nvSpPr>
        <p:spPr>
          <a:xfrm>
            <a:off x="812800" y="1676400"/>
            <a:ext cx="2006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72B4D"/>
                </a:solidFill>
                <a:latin typeface="Aptos" panose="020B0004020202020204" pitchFamily="34" charset="0"/>
              </a:rPr>
              <a:t>Talk Like a Graph</a:t>
            </a:r>
          </a:p>
        </p:txBody>
      </p:sp>
      <p:cxnSp>
        <p:nvCxnSpPr>
          <p:cNvPr id="9" name="TLAG-Graph-Edge-0">
            <a:extLst>
              <a:ext uri="{FF2B5EF4-FFF2-40B4-BE49-F238E27FC236}">
                <a16:creationId xmlns:a16="http://schemas.microsoft.com/office/drawing/2014/main" id="{7C04AAC3-EE2F-C0DD-856F-EFC5260995F3}"/>
              </a:ext>
            </a:extLst>
          </p:cNvPr>
          <p:cNvCxnSpPr/>
          <p:nvPr/>
        </p:nvCxnSpPr>
        <p:spPr>
          <a:xfrm flipV="1">
            <a:off x="768985" y="2508885"/>
            <a:ext cx="206375" cy="181610"/>
          </a:xfrm>
          <a:prstGeom prst="line">
            <a:avLst/>
          </a:prstGeom>
          <a:ln w="1238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LAG-Graph-Edge-1">
            <a:extLst>
              <a:ext uri="{FF2B5EF4-FFF2-40B4-BE49-F238E27FC236}">
                <a16:creationId xmlns:a16="http://schemas.microsoft.com/office/drawing/2014/main" id="{BE39F5B5-1827-FB94-0112-3D31568DED65}"/>
              </a:ext>
            </a:extLst>
          </p:cNvPr>
          <p:cNvCxnSpPr/>
          <p:nvPr/>
        </p:nvCxnSpPr>
        <p:spPr>
          <a:xfrm>
            <a:off x="975360" y="2508885"/>
            <a:ext cx="247650" cy="148590"/>
          </a:xfrm>
          <a:prstGeom prst="line">
            <a:avLst/>
          </a:prstGeom>
          <a:ln w="1238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LAG-Graph-Edge-2">
            <a:extLst>
              <a:ext uri="{FF2B5EF4-FFF2-40B4-BE49-F238E27FC236}">
                <a16:creationId xmlns:a16="http://schemas.microsoft.com/office/drawing/2014/main" id="{38AA849F-B600-8BD4-D460-3F4F48B80ABE}"/>
              </a:ext>
            </a:extLst>
          </p:cNvPr>
          <p:cNvCxnSpPr/>
          <p:nvPr/>
        </p:nvCxnSpPr>
        <p:spPr>
          <a:xfrm>
            <a:off x="768985" y="2690495"/>
            <a:ext cx="107315" cy="247650"/>
          </a:xfrm>
          <a:prstGeom prst="line">
            <a:avLst/>
          </a:prstGeom>
          <a:ln w="1238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LAG-Graph-Edge-3">
            <a:extLst>
              <a:ext uri="{FF2B5EF4-FFF2-40B4-BE49-F238E27FC236}">
                <a16:creationId xmlns:a16="http://schemas.microsoft.com/office/drawing/2014/main" id="{03709712-FBEB-90A3-1D7C-6AFCE525CD9A}"/>
              </a:ext>
            </a:extLst>
          </p:cNvPr>
          <p:cNvCxnSpPr/>
          <p:nvPr/>
        </p:nvCxnSpPr>
        <p:spPr>
          <a:xfrm>
            <a:off x="876300" y="2938145"/>
            <a:ext cx="305435" cy="8255"/>
          </a:xfrm>
          <a:prstGeom prst="line">
            <a:avLst/>
          </a:prstGeom>
          <a:ln w="1238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LAG-Graph-Edge-4">
            <a:extLst>
              <a:ext uri="{FF2B5EF4-FFF2-40B4-BE49-F238E27FC236}">
                <a16:creationId xmlns:a16="http://schemas.microsoft.com/office/drawing/2014/main" id="{60386443-8B0E-DDF9-5814-1B5D029B7DF8}"/>
              </a:ext>
            </a:extLst>
          </p:cNvPr>
          <p:cNvCxnSpPr/>
          <p:nvPr/>
        </p:nvCxnSpPr>
        <p:spPr>
          <a:xfrm flipH="1">
            <a:off x="1181735" y="2657475"/>
            <a:ext cx="41275" cy="288925"/>
          </a:xfrm>
          <a:prstGeom prst="line">
            <a:avLst/>
          </a:prstGeom>
          <a:ln w="1238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TLAG-Graph-KeyEdge">
            <a:extLst>
              <a:ext uri="{FF2B5EF4-FFF2-40B4-BE49-F238E27FC236}">
                <a16:creationId xmlns:a16="http://schemas.microsoft.com/office/drawing/2014/main" id="{1E1AD49F-62D7-4C1E-169A-3A7AE745DE27}"/>
              </a:ext>
            </a:extLst>
          </p:cNvPr>
          <p:cNvCxnSpPr/>
          <p:nvPr/>
        </p:nvCxnSpPr>
        <p:spPr>
          <a:xfrm>
            <a:off x="975360" y="2508885"/>
            <a:ext cx="206375" cy="437515"/>
          </a:xfrm>
          <a:prstGeom prst="line">
            <a:avLst/>
          </a:prstGeom>
          <a:ln w="15684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LAG-Graph-Node-0">
            <a:extLst>
              <a:ext uri="{FF2B5EF4-FFF2-40B4-BE49-F238E27FC236}">
                <a16:creationId xmlns:a16="http://schemas.microsoft.com/office/drawing/2014/main" id="{C6F47F77-88E6-4513-C296-1F3ECD9F1DE2}"/>
              </a:ext>
            </a:extLst>
          </p:cNvPr>
          <p:cNvSpPr/>
          <p:nvPr/>
        </p:nvSpPr>
        <p:spPr>
          <a:xfrm>
            <a:off x="711200" y="2632710"/>
            <a:ext cx="115570" cy="11557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LAG-Graph-Node-1">
            <a:extLst>
              <a:ext uri="{FF2B5EF4-FFF2-40B4-BE49-F238E27FC236}">
                <a16:creationId xmlns:a16="http://schemas.microsoft.com/office/drawing/2014/main" id="{B697C200-77AC-1870-314C-46BAA814B675}"/>
              </a:ext>
            </a:extLst>
          </p:cNvPr>
          <p:cNvSpPr/>
          <p:nvPr/>
        </p:nvSpPr>
        <p:spPr>
          <a:xfrm>
            <a:off x="917575" y="2451100"/>
            <a:ext cx="115570" cy="11557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LAG-Graph-Node-2">
            <a:extLst>
              <a:ext uri="{FF2B5EF4-FFF2-40B4-BE49-F238E27FC236}">
                <a16:creationId xmlns:a16="http://schemas.microsoft.com/office/drawing/2014/main" id="{D71D657D-6FF8-E506-4799-60E27D8C9E00}"/>
              </a:ext>
            </a:extLst>
          </p:cNvPr>
          <p:cNvSpPr/>
          <p:nvPr/>
        </p:nvSpPr>
        <p:spPr>
          <a:xfrm>
            <a:off x="1165225" y="2599690"/>
            <a:ext cx="115570" cy="11557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LAG-Graph-Node-3">
            <a:extLst>
              <a:ext uri="{FF2B5EF4-FFF2-40B4-BE49-F238E27FC236}">
                <a16:creationId xmlns:a16="http://schemas.microsoft.com/office/drawing/2014/main" id="{B5DEF724-0E9C-4880-364E-6A2F99C623CD}"/>
              </a:ext>
            </a:extLst>
          </p:cNvPr>
          <p:cNvSpPr/>
          <p:nvPr/>
        </p:nvSpPr>
        <p:spPr>
          <a:xfrm>
            <a:off x="818515" y="2880360"/>
            <a:ext cx="115570" cy="11557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LAG-Graph-Node-4">
            <a:extLst>
              <a:ext uri="{FF2B5EF4-FFF2-40B4-BE49-F238E27FC236}">
                <a16:creationId xmlns:a16="http://schemas.microsoft.com/office/drawing/2014/main" id="{93B881D1-F213-7C74-8330-9E1D90DE8D36}"/>
              </a:ext>
            </a:extLst>
          </p:cNvPr>
          <p:cNvSpPr/>
          <p:nvPr/>
        </p:nvSpPr>
        <p:spPr>
          <a:xfrm>
            <a:off x="1123950" y="2888615"/>
            <a:ext cx="115570" cy="11557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LAG-GraphLabel">
            <a:extLst>
              <a:ext uri="{FF2B5EF4-FFF2-40B4-BE49-F238E27FC236}">
                <a16:creationId xmlns:a16="http://schemas.microsoft.com/office/drawing/2014/main" id="{0FAF1383-7BB6-71EF-ACC7-875013FC0A56}"/>
              </a:ext>
            </a:extLst>
          </p:cNvPr>
          <p:cNvSpPr txBox="1"/>
          <p:nvPr/>
        </p:nvSpPr>
        <p:spPr>
          <a:xfrm>
            <a:off x="609600" y="3022600"/>
            <a:ext cx="787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2657A"/>
                </a:solidFill>
                <a:latin typeface="Aptos" panose="020B0004020202020204" pitchFamily="34" charset="0"/>
              </a:rPr>
              <a:t>Graph</a:t>
            </a:r>
          </a:p>
        </p:txBody>
      </p:sp>
      <p:cxnSp>
        <p:nvCxnSpPr>
          <p:cNvPr id="21" name="TLAG-Arrow1">
            <a:extLst>
              <a:ext uri="{FF2B5EF4-FFF2-40B4-BE49-F238E27FC236}">
                <a16:creationId xmlns:a16="http://schemas.microsoft.com/office/drawing/2014/main" id="{7FD91F1C-9509-EC6E-826D-8E89114C31D3}"/>
              </a:ext>
            </a:extLst>
          </p:cNvPr>
          <p:cNvCxnSpPr/>
          <p:nvPr/>
        </p:nvCxnSpPr>
        <p:spPr>
          <a:xfrm>
            <a:off x="1409700" y="2806700"/>
            <a:ext cx="1651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LAG-Words">
            <a:extLst>
              <a:ext uri="{FF2B5EF4-FFF2-40B4-BE49-F238E27FC236}">
                <a16:creationId xmlns:a16="http://schemas.microsoft.com/office/drawing/2014/main" id="{DA9F7615-1C8C-62CF-EA91-1BC765385BF9}"/>
              </a:ext>
            </a:extLst>
          </p:cNvPr>
          <p:cNvSpPr/>
          <p:nvPr/>
        </p:nvSpPr>
        <p:spPr>
          <a:xfrm>
            <a:off x="1612900" y="2489200"/>
            <a:ext cx="723900" cy="63500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Words</a:t>
            </a:r>
          </a:p>
        </p:txBody>
      </p:sp>
      <p:cxnSp>
        <p:nvCxnSpPr>
          <p:cNvPr id="23" name="TLAG-Arrow2">
            <a:extLst>
              <a:ext uri="{FF2B5EF4-FFF2-40B4-BE49-F238E27FC236}">
                <a16:creationId xmlns:a16="http://schemas.microsoft.com/office/drawing/2014/main" id="{C77C04CE-66EE-3741-1173-DDF075618D52}"/>
              </a:ext>
            </a:extLst>
          </p:cNvPr>
          <p:cNvCxnSpPr/>
          <p:nvPr/>
        </p:nvCxnSpPr>
        <p:spPr>
          <a:xfrm>
            <a:off x="2374900" y="2806700"/>
            <a:ext cx="1651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LAG-LLM">
            <a:extLst>
              <a:ext uri="{FF2B5EF4-FFF2-40B4-BE49-F238E27FC236}">
                <a16:creationId xmlns:a16="http://schemas.microsoft.com/office/drawing/2014/main" id="{44113387-E41A-37EA-25A2-395056391487}"/>
              </a:ext>
            </a:extLst>
          </p:cNvPr>
          <p:cNvSpPr/>
          <p:nvPr/>
        </p:nvSpPr>
        <p:spPr>
          <a:xfrm>
            <a:off x="2578100" y="2489200"/>
            <a:ext cx="546100" cy="635000"/>
          </a:xfrm>
          <a:prstGeom prst="roundRect">
            <a:avLst/>
          </a:prstGeom>
          <a:solidFill>
            <a:srgbClr val="ECECFA"/>
          </a:solidFill>
          <a:ln w="12700">
            <a:solidFill>
              <a:srgbClr val="ECE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B5BD6"/>
                </a:solidFill>
                <a:latin typeface="Aptos" panose="020B0004020202020204" pitchFamily="34" charset="0"/>
              </a:rPr>
              <a:t>LLM</a:t>
            </a:r>
          </a:p>
        </p:txBody>
      </p:sp>
      <p:cxnSp>
        <p:nvCxnSpPr>
          <p:cNvPr id="25" name="TLAG-Arrow3">
            <a:extLst>
              <a:ext uri="{FF2B5EF4-FFF2-40B4-BE49-F238E27FC236}">
                <a16:creationId xmlns:a16="http://schemas.microsoft.com/office/drawing/2014/main" id="{D4EA0D2F-9FD4-41FE-613C-EEB3AECC1651}"/>
              </a:ext>
            </a:extLst>
          </p:cNvPr>
          <p:cNvCxnSpPr/>
          <p:nvPr/>
        </p:nvCxnSpPr>
        <p:spPr>
          <a:xfrm>
            <a:off x="3162300" y="2806700"/>
            <a:ext cx="1397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LAG-Answer">
            <a:extLst>
              <a:ext uri="{FF2B5EF4-FFF2-40B4-BE49-F238E27FC236}">
                <a16:creationId xmlns:a16="http://schemas.microsoft.com/office/drawing/2014/main" id="{CAE5D22E-47A1-B4A8-77AE-ED011B43C5EF}"/>
              </a:ext>
            </a:extLst>
          </p:cNvPr>
          <p:cNvSpPr/>
          <p:nvPr/>
        </p:nvSpPr>
        <p:spPr>
          <a:xfrm>
            <a:off x="3263900" y="2489200"/>
            <a:ext cx="647700" cy="63500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EF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Text</a:t>
            </a:r>
          </a:p>
        </p:txBody>
      </p:sp>
      <p:sp>
        <p:nvSpPr>
          <p:cNvPr id="27" name="TLAG-Description">
            <a:extLst>
              <a:ext uri="{FF2B5EF4-FFF2-40B4-BE49-F238E27FC236}">
                <a16:creationId xmlns:a16="http://schemas.microsoft.com/office/drawing/2014/main" id="{27B13A50-A8F0-F1CE-B5ED-F34389F7FE0B}"/>
              </a:ext>
            </a:extLst>
          </p:cNvPr>
          <p:cNvSpPr txBox="1"/>
          <p:nvPr/>
        </p:nvSpPr>
        <p:spPr>
          <a:xfrm>
            <a:off x="660400" y="3517900"/>
            <a:ext cx="32004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72B4D"/>
                </a:solidFill>
                <a:latin typeface="Aptos" panose="020B0004020202020204" pitchFamily="34" charset="0"/>
              </a:rPr>
              <a:t>It writes nodes and links as sentences.
The LLM sees only words.</a:t>
            </a:r>
          </a:p>
        </p:txBody>
      </p:sp>
      <p:sp>
        <p:nvSpPr>
          <p:cNvPr id="28" name="TLAG-Key">
            <a:extLst>
              <a:ext uri="{FF2B5EF4-FFF2-40B4-BE49-F238E27FC236}">
                <a16:creationId xmlns:a16="http://schemas.microsoft.com/office/drawing/2014/main" id="{C6906ED8-CBFD-C67B-62BB-72BC9320071F}"/>
              </a:ext>
            </a:extLst>
          </p:cNvPr>
          <p:cNvSpPr/>
          <p:nvPr/>
        </p:nvSpPr>
        <p:spPr>
          <a:xfrm>
            <a:off x="660400" y="4356100"/>
            <a:ext cx="3200400" cy="48260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Graph becomes text.</a:t>
            </a:r>
          </a:p>
        </p:txBody>
      </p:sp>
      <p:sp>
        <p:nvSpPr>
          <p:cNvPr id="29" name="TLAG-Source">
            <a:hlinkClick r:id="rId2"/>
            <a:extLst>
              <a:ext uri="{FF2B5EF4-FFF2-40B4-BE49-F238E27FC236}">
                <a16:creationId xmlns:a16="http://schemas.microsoft.com/office/drawing/2014/main" id="{50AFB2B3-AC4F-8A7D-5471-687CBF5A1136}"/>
              </a:ext>
            </a:extLst>
          </p:cNvPr>
          <p:cNvSpPr txBox="1"/>
          <p:nvPr/>
        </p:nvSpPr>
        <p:spPr>
          <a:xfrm>
            <a:off x="660400" y="4978400"/>
            <a:ext cx="320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D99B2B"/>
                </a:solidFill>
                <a:latin typeface="Aptos" panose="020B0004020202020204" pitchFamily="34" charset="0"/>
              </a:rPr>
              <a:t>Fatemi et al., ICLR 2024</a:t>
            </a:r>
          </a:p>
        </p:txBody>
      </p:sp>
      <p:sp>
        <p:nvSpPr>
          <p:cNvPr id="30" name="Card-GraphToken">
            <a:extLst>
              <a:ext uri="{FF2B5EF4-FFF2-40B4-BE49-F238E27FC236}">
                <a16:creationId xmlns:a16="http://schemas.microsoft.com/office/drawing/2014/main" id="{EE33FB68-317B-66E4-7664-A2C5632D6A0E}"/>
              </a:ext>
            </a:extLst>
          </p:cNvPr>
          <p:cNvSpPr/>
          <p:nvPr/>
        </p:nvSpPr>
        <p:spPr>
          <a:xfrm>
            <a:off x="4292600" y="1524000"/>
            <a:ext cx="3606800" cy="3860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ccent-GraphToken">
            <a:extLst>
              <a:ext uri="{FF2B5EF4-FFF2-40B4-BE49-F238E27FC236}">
                <a16:creationId xmlns:a16="http://schemas.microsoft.com/office/drawing/2014/main" id="{4DE2AB66-6A1C-F5B7-1E03-A4EB442A173A}"/>
              </a:ext>
            </a:extLst>
          </p:cNvPr>
          <p:cNvSpPr/>
          <p:nvPr/>
        </p:nvSpPr>
        <p:spPr>
          <a:xfrm>
            <a:off x="4470400" y="1701800"/>
            <a:ext cx="63500" cy="3810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-GraphToken">
            <a:extLst>
              <a:ext uri="{FF2B5EF4-FFF2-40B4-BE49-F238E27FC236}">
                <a16:creationId xmlns:a16="http://schemas.microsoft.com/office/drawing/2014/main" id="{4C023A6C-E1AA-4C7B-1409-CA30A03C05E1}"/>
              </a:ext>
            </a:extLst>
          </p:cNvPr>
          <p:cNvSpPr txBox="1"/>
          <p:nvPr/>
        </p:nvSpPr>
        <p:spPr>
          <a:xfrm>
            <a:off x="4648200" y="1676400"/>
            <a:ext cx="2108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72B4D"/>
                </a:solidFill>
                <a:latin typeface="Aptos" panose="020B0004020202020204" pitchFamily="34" charset="0"/>
              </a:rPr>
              <a:t>GraphToken</a:t>
            </a:r>
          </a:p>
        </p:txBody>
      </p:sp>
      <p:cxnSp>
        <p:nvCxnSpPr>
          <p:cNvPr id="34" name="GraphToken-Graph-Edge-0">
            <a:extLst>
              <a:ext uri="{FF2B5EF4-FFF2-40B4-BE49-F238E27FC236}">
                <a16:creationId xmlns:a16="http://schemas.microsoft.com/office/drawing/2014/main" id="{A20E0B27-2F78-9EF6-B5B7-5AD2F0BC605B}"/>
              </a:ext>
            </a:extLst>
          </p:cNvPr>
          <p:cNvCxnSpPr/>
          <p:nvPr/>
        </p:nvCxnSpPr>
        <p:spPr>
          <a:xfrm flipV="1">
            <a:off x="4601718" y="2417318"/>
            <a:ext cx="196850" cy="173228"/>
          </a:xfrm>
          <a:prstGeom prst="line">
            <a:avLst/>
          </a:prstGeom>
          <a:ln w="11811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raphToken-Graph-Edge-1">
            <a:extLst>
              <a:ext uri="{FF2B5EF4-FFF2-40B4-BE49-F238E27FC236}">
                <a16:creationId xmlns:a16="http://schemas.microsoft.com/office/drawing/2014/main" id="{658BF8BF-C2CF-A9B8-945B-43ECC1ECF1A9}"/>
              </a:ext>
            </a:extLst>
          </p:cNvPr>
          <p:cNvCxnSpPr/>
          <p:nvPr/>
        </p:nvCxnSpPr>
        <p:spPr>
          <a:xfrm>
            <a:off x="4798568" y="2417318"/>
            <a:ext cx="236220" cy="141732"/>
          </a:xfrm>
          <a:prstGeom prst="line">
            <a:avLst/>
          </a:prstGeom>
          <a:ln w="11811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raphToken-Graph-Edge-2">
            <a:extLst>
              <a:ext uri="{FF2B5EF4-FFF2-40B4-BE49-F238E27FC236}">
                <a16:creationId xmlns:a16="http://schemas.microsoft.com/office/drawing/2014/main" id="{AE944CD0-F6A7-BCF2-EBBB-26B9D084359E}"/>
              </a:ext>
            </a:extLst>
          </p:cNvPr>
          <p:cNvCxnSpPr/>
          <p:nvPr/>
        </p:nvCxnSpPr>
        <p:spPr>
          <a:xfrm>
            <a:off x="4601718" y="2590546"/>
            <a:ext cx="102362" cy="236220"/>
          </a:xfrm>
          <a:prstGeom prst="line">
            <a:avLst/>
          </a:prstGeom>
          <a:ln w="11811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raphToken-Graph-Edge-3">
            <a:extLst>
              <a:ext uri="{FF2B5EF4-FFF2-40B4-BE49-F238E27FC236}">
                <a16:creationId xmlns:a16="http://schemas.microsoft.com/office/drawing/2014/main" id="{75397E8C-02BA-E057-DEE7-71ED6E894F9B}"/>
              </a:ext>
            </a:extLst>
          </p:cNvPr>
          <p:cNvCxnSpPr/>
          <p:nvPr/>
        </p:nvCxnSpPr>
        <p:spPr>
          <a:xfrm>
            <a:off x="4704080" y="2826766"/>
            <a:ext cx="291338" cy="7874"/>
          </a:xfrm>
          <a:prstGeom prst="line">
            <a:avLst/>
          </a:prstGeom>
          <a:ln w="11811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raphToken-Graph-Edge-4">
            <a:extLst>
              <a:ext uri="{FF2B5EF4-FFF2-40B4-BE49-F238E27FC236}">
                <a16:creationId xmlns:a16="http://schemas.microsoft.com/office/drawing/2014/main" id="{0150F25A-4E48-852E-2D90-DBD91C585616}"/>
              </a:ext>
            </a:extLst>
          </p:cNvPr>
          <p:cNvCxnSpPr/>
          <p:nvPr/>
        </p:nvCxnSpPr>
        <p:spPr>
          <a:xfrm flipH="1">
            <a:off x="4995418" y="2559050"/>
            <a:ext cx="39370" cy="275590"/>
          </a:xfrm>
          <a:prstGeom prst="line">
            <a:avLst/>
          </a:prstGeom>
          <a:ln w="11811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raphToken-Graph-KeyEdge">
            <a:extLst>
              <a:ext uri="{FF2B5EF4-FFF2-40B4-BE49-F238E27FC236}">
                <a16:creationId xmlns:a16="http://schemas.microsoft.com/office/drawing/2014/main" id="{213D61EC-59BF-BC68-CD4C-A91B790A62DF}"/>
              </a:ext>
            </a:extLst>
          </p:cNvPr>
          <p:cNvCxnSpPr/>
          <p:nvPr/>
        </p:nvCxnSpPr>
        <p:spPr>
          <a:xfrm>
            <a:off x="4798568" y="2417318"/>
            <a:ext cx="196850" cy="417322"/>
          </a:xfrm>
          <a:prstGeom prst="line">
            <a:avLst/>
          </a:prstGeom>
          <a:ln w="14961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GraphToken-Graph-Node-0">
            <a:extLst>
              <a:ext uri="{FF2B5EF4-FFF2-40B4-BE49-F238E27FC236}">
                <a16:creationId xmlns:a16="http://schemas.microsoft.com/office/drawing/2014/main" id="{514417A7-1FDF-61DC-EF52-80DA861470C0}"/>
              </a:ext>
            </a:extLst>
          </p:cNvPr>
          <p:cNvSpPr/>
          <p:nvPr/>
        </p:nvSpPr>
        <p:spPr>
          <a:xfrm>
            <a:off x="4546600" y="2535428"/>
            <a:ext cx="110236" cy="1102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raphToken-Graph-Node-1">
            <a:extLst>
              <a:ext uri="{FF2B5EF4-FFF2-40B4-BE49-F238E27FC236}">
                <a16:creationId xmlns:a16="http://schemas.microsoft.com/office/drawing/2014/main" id="{07A53109-CBDE-DA0D-9662-9B5FA51D1EA1}"/>
              </a:ext>
            </a:extLst>
          </p:cNvPr>
          <p:cNvSpPr/>
          <p:nvPr/>
        </p:nvSpPr>
        <p:spPr>
          <a:xfrm>
            <a:off x="4743450" y="2362200"/>
            <a:ext cx="110236" cy="110236"/>
          </a:xfrm>
          <a:prstGeom prst="ellipse">
            <a:avLst/>
          </a:prstGeom>
          <a:solidFill>
            <a:srgbClr val="2A9D8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GraphToken-Graph-Node-2">
            <a:extLst>
              <a:ext uri="{FF2B5EF4-FFF2-40B4-BE49-F238E27FC236}">
                <a16:creationId xmlns:a16="http://schemas.microsoft.com/office/drawing/2014/main" id="{B0CBED28-6296-42DA-0322-FFC04717864D}"/>
              </a:ext>
            </a:extLst>
          </p:cNvPr>
          <p:cNvSpPr/>
          <p:nvPr/>
        </p:nvSpPr>
        <p:spPr>
          <a:xfrm>
            <a:off x="4979670" y="2503932"/>
            <a:ext cx="110236" cy="1102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raphToken-Graph-Node-3">
            <a:extLst>
              <a:ext uri="{FF2B5EF4-FFF2-40B4-BE49-F238E27FC236}">
                <a16:creationId xmlns:a16="http://schemas.microsoft.com/office/drawing/2014/main" id="{B687041C-F997-426F-22CB-DC393F3CEF57}"/>
              </a:ext>
            </a:extLst>
          </p:cNvPr>
          <p:cNvSpPr/>
          <p:nvPr/>
        </p:nvSpPr>
        <p:spPr>
          <a:xfrm>
            <a:off x="4648962" y="2771648"/>
            <a:ext cx="110236" cy="1102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GraphToken-Graph-Node-4">
            <a:extLst>
              <a:ext uri="{FF2B5EF4-FFF2-40B4-BE49-F238E27FC236}">
                <a16:creationId xmlns:a16="http://schemas.microsoft.com/office/drawing/2014/main" id="{23D7B564-2349-6E0C-FBBF-880AE7FA204C}"/>
              </a:ext>
            </a:extLst>
          </p:cNvPr>
          <p:cNvSpPr/>
          <p:nvPr/>
        </p:nvSpPr>
        <p:spPr>
          <a:xfrm>
            <a:off x="4940300" y="2779522"/>
            <a:ext cx="110236" cy="1102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raphToken-GraphLabel">
            <a:extLst>
              <a:ext uri="{FF2B5EF4-FFF2-40B4-BE49-F238E27FC236}">
                <a16:creationId xmlns:a16="http://schemas.microsoft.com/office/drawing/2014/main" id="{5D464600-8604-AA92-157D-65A9A1D22733}"/>
              </a:ext>
            </a:extLst>
          </p:cNvPr>
          <p:cNvSpPr txBox="1"/>
          <p:nvPr/>
        </p:nvSpPr>
        <p:spPr>
          <a:xfrm>
            <a:off x="4445000" y="2933700"/>
            <a:ext cx="787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2657A"/>
                </a:solidFill>
                <a:latin typeface="Aptos" panose="020B0004020202020204" pitchFamily="34" charset="0"/>
              </a:rPr>
              <a:t>Graph</a:t>
            </a:r>
          </a:p>
        </p:txBody>
      </p:sp>
      <p:cxnSp>
        <p:nvCxnSpPr>
          <p:cNvPr id="46" name="GraphToken-Arrow1">
            <a:extLst>
              <a:ext uri="{FF2B5EF4-FFF2-40B4-BE49-F238E27FC236}">
                <a16:creationId xmlns:a16="http://schemas.microsoft.com/office/drawing/2014/main" id="{24A7E42B-44BF-0879-C863-F74F20C5CC37}"/>
              </a:ext>
            </a:extLst>
          </p:cNvPr>
          <p:cNvCxnSpPr/>
          <p:nvPr/>
        </p:nvCxnSpPr>
        <p:spPr>
          <a:xfrm>
            <a:off x="5219700" y="2717800"/>
            <a:ext cx="1905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GraphToken-Encoder">
            <a:extLst>
              <a:ext uri="{FF2B5EF4-FFF2-40B4-BE49-F238E27FC236}">
                <a16:creationId xmlns:a16="http://schemas.microsoft.com/office/drawing/2014/main" id="{AAE50F0B-582D-8B4F-36B5-5931BD35A189}"/>
              </a:ext>
            </a:extLst>
          </p:cNvPr>
          <p:cNvSpPr/>
          <p:nvPr/>
        </p:nvSpPr>
        <p:spPr>
          <a:xfrm>
            <a:off x="5448300" y="2400300"/>
            <a:ext cx="863600" cy="635000"/>
          </a:xfrm>
          <a:prstGeom prst="roundRect">
            <a:avLst/>
          </a:prstGeom>
          <a:solidFill>
            <a:srgbClr val="FBEAE5"/>
          </a:solidFill>
          <a:ln w="12700">
            <a:solidFill>
              <a:srgbClr val="FBE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E76F51"/>
                </a:solidFill>
                <a:latin typeface="Aptos" panose="020B0004020202020204" pitchFamily="34" charset="0"/>
              </a:rPr>
              <a:t>Graph
encoder</a:t>
            </a:r>
          </a:p>
        </p:txBody>
      </p:sp>
      <p:cxnSp>
        <p:nvCxnSpPr>
          <p:cNvPr id="48" name="GraphToken-Arrow2">
            <a:extLst>
              <a:ext uri="{FF2B5EF4-FFF2-40B4-BE49-F238E27FC236}">
                <a16:creationId xmlns:a16="http://schemas.microsoft.com/office/drawing/2014/main" id="{EFF6ADFD-94DF-E0A9-0CF6-D675B17DCB65}"/>
              </a:ext>
            </a:extLst>
          </p:cNvPr>
          <p:cNvCxnSpPr/>
          <p:nvPr/>
        </p:nvCxnSpPr>
        <p:spPr>
          <a:xfrm>
            <a:off x="6350000" y="2717800"/>
            <a:ext cx="1778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GraphToken-Token-0">
            <a:extLst>
              <a:ext uri="{FF2B5EF4-FFF2-40B4-BE49-F238E27FC236}">
                <a16:creationId xmlns:a16="http://schemas.microsoft.com/office/drawing/2014/main" id="{4081495A-78B7-DD36-97B4-1FA8EF567F53}"/>
              </a:ext>
            </a:extLst>
          </p:cNvPr>
          <p:cNvSpPr/>
          <p:nvPr/>
        </p:nvSpPr>
        <p:spPr>
          <a:xfrm>
            <a:off x="6578600" y="2476500"/>
            <a:ext cx="165100" cy="4318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GraphToken-Token-1">
            <a:extLst>
              <a:ext uri="{FF2B5EF4-FFF2-40B4-BE49-F238E27FC236}">
                <a16:creationId xmlns:a16="http://schemas.microsoft.com/office/drawing/2014/main" id="{36D4762A-FF93-2783-165D-4AEC42BCC001}"/>
              </a:ext>
            </a:extLst>
          </p:cNvPr>
          <p:cNvSpPr/>
          <p:nvPr/>
        </p:nvSpPr>
        <p:spPr>
          <a:xfrm>
            <a:off x="6832600" y="2476500"/>
            <a:ext cx="165100" cy="4318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GraphToken-Token-2">
            <a:extLst>
              <a:ext uri="{FF2B5EF4-FFF2-40B4-BE49-F238E27FC236}">
                <a16:creationId xmlns:a16="http://schemas.microsoft.com/office/drawing/2014/main" id="{D5649CDE-BCF6-1C26-AFC6-33151DE085D7}"/>
              </a:ext>
            </a:extLst>
          </p:cNvPr>
          <p:cNvSpPr/>
          <p:nvPr/>
        </p:nvSpPr>
        <p:spPr>
          <a:xfrm>
            <a:off x="7086600" y="2476500"/>
            <a:ext cx="165100" cy="4318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GraphToken-Token-3">
            <a:extLst>
              <a:ext uri="{FF2B5EF4-FFF2-40B4-BE49-F238E27FC236}">
                <a16:creationId xmlns:a16="http://schemas.microsoft.com/office/drawing/2014/main" id="{CE4DC2C2-8EFC-D0FF-4E59-9F95E4D3C5A5}"/>
              </a:ext>
            </a:extLst>
          </p:cNvPr>
          <p:cNvSpPr/>
          <p:nvPr/>
        </p:nvSpPr>
        <p:spPr>
          <a:xfrm>
            <a:off x="7340600" y="2476500"/>
            <a:ext cx="165100" cy="4318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GraphToken-TokenLabel">
            <a:extLst>
              <a:ext uri="{FF2B5EF4-FFF2-40B4-BE49-F238E27FC236}">
                <a16:creationId xmlns:a16="http://schemas.microsoft.com/office/drawing/2014/main" id="{C46A1408-8219-E7ED-6364-FAF50F4AAEB9}"/>
              </a:ext>
            </a:extLst>
          </p:cNvPr>
          <p:cNvSpPr txBox="1"/>
          <p:nvPr/>
        </p:nvSpPr>
        <p:spPr>
          <a:xfrm>
            <a:off x="6502400" y="2946400"/>
            <a:ext cx="1193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2657A"/>
                </a:solidFill>
                <a:latin typeface="Aptos" panose="020B0004020202020204" pitchFamily="34" charset="0"/>
              </a:rPr>
              <a:t>Graph tokens</a:t>
            </a:r>
          </a:p>
        </p:txBody>
      </p:sp>
      <p:sp>
        <p:nvSpPr>
          <p:cNvPr id="54" name="GraphToken-SecondRow">
            <a:extLst>
              <a:ext uri="{FF2B5EF4-FFF2-40B4-BE49-F238E27FC236}">
                <a16:creationId xmlns:a16="http://schemas.microsoft.com/office/drawing/2014/main" id="{DAC5D46D-5AF6-FB71-3004-D20290BFF9F0}"/>
              </a:ext>
            </a:extLst>
          </p:cNvPr>
          <p:cNvSpPr txBox="1"/>
          <p:nvPr/>
        </p:nvSpPr>
        <p:spPr>
          <a:xfrm>
            <a:off x="4419600" y="3251200"/>
            <a:ext cx="335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B5BD6"/>
                </a:solidFill>
                <a:latin typeface="Aptos" panose="020B0004020202020204" pitchFamily="34" charset="0"/>
              </a:rPr>
              <a:t>+ question  →  Frozen LLM  →  Text answer</a:t>
            </a:r>
          </a:p>
        </p:txBody>
      </p:sp>
      <p:sp>
        <p:nvSpPr>
          <p:cNvPr id="55" name="GraphToken-Description">
            <a:extLst>
              <a:ext uri="{FF2B5EF4-FFF2-40B4-BE49-F238E27FC236}">
                <a16:creationId xmlns:a16="http://schemas.microsoft.com/office/drawing/2014/main" id="{B0B852BD-1975-CF96-1AEE-354CFBDF306C}"/>
              </a:ext>
            </a:extLst>
          </p:cNvPr>
          <p:cNvSpPr txBox="1"/>
          <p:nvPr/>
        </p:nvSpPr>
        <p:spPr>
          <a:xfrm>
            <a:off x="4495800" y="3644900"/>
            <a:ext cx="32004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72B4D"/>
                </a:solidFill>
                <a:latin typeface="Aptos" panose="020B0004020202020204" pitchFamily="34" charset="0"/>
              </a:rPr>
              <a:t>A trainable graph encoder changes the graph into learned tokens.</a:t>
            </a:r>
          </a:p>
        </p:txBody>
      </p:sp>
      <p:sp>
        <p:nvSpPr>
          <p:cNvPr id="56" name="GraphToken-Key">
            <a:extLst>
              <a:ext uri="{FF2B5EF4-FFF2-40B4-BE49-F238E27FC236}">
                <a16:creationId xmlns:a16="http://schemas.microsoft.com/office/drawing/2014/main" id="{4680617A-3C30-A1ED-06CA-B4241BBEBF6A}"/>
              </a:ext>
            </a:extLst>
          </p:cNvPr>
          <p:cNvSpPr/>
          <p:nvPr/>
        </p:nvSpPr>
        <p:spPr>
          <a:xfrm>
            <a:off x="4495800" y="4356100"/>
            <a:ext cx="3200400" cy="482600"/>
          </a:xfrm>
          <a:prstGeom prst="roundRect">
            <a:avLst/>
          </a:prstGeom>
          <a:solidFill>
            <a:srgbClr val="FBEAE5"/>
          </a:solidFill>
          <a:ln w="12700">
            <a:solidFill>
              <a:srgbClr val="FBE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Graph becomes learned tokens.</a:t>
            </a:r>
          </a:p>
        </p:txBody>
      </p:sp>
      <p:sp>
        <p:nvSpPr>
          <p:cNvPr id="57" name="GraphToken-Source">
            <a:hlinkClick r:id="rId3"/>
            <a:extLst>
              <a:ext uri="{FF2B5EF4-FFF2-40B4-BE49-F238E27FC236}">
                <a16:creationId xmlns:a16="http://schemas.microsoft.com/office/drawing/2014/main" id="{11742D6D-58CE-290E-2DBF-9A80290696F5}"/>
              </a:ext>
            </a:extLst>
          </p:cNvPr>
          <p:cNvSpPr txBox="1"/>
          <p:nvPr/>
        </p:nvSpPr>
        <p:spPr>
          <a:xfrm>
            <a:off x="4495800" y="4978400"/>
            <a:ext cx="320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E76F51"/>
                </a:solidFill>
                <a:latin typeface="Aptos" panose="020B0004020202020204" pitchFamily="34" charset="0"/>
              </a:rPr>
              <a:t>Perozzi et al., 2024</a:t>
            </a:r>
          </a:p>
        </p:txBody>
      </p:sp>
      <p:sp>
        <p:nvSpPr>
          <p:cNvPr id="58" name="Card-GTLM">
            <a:extLst>
              <a:ext uri="{FF2B5EF4-FFF2-40B4-BE49-F238E27FC236}">
                <a16:creationId xmlns:a16="http://schemas.microsoft.com/office/drawing/2014/main" id="{C63B5482-34CB-1763-B130-3174A0797DEE}"/>
              </a:ext>
            </a:extLst>
          </p:cNvPr>
          <p:cNvSpPr/>
          <p:nvPr/>
        </p:nvSpPr>
        <p:spPr>
          <a:xfrm>
            <a:off x="8128000" y="1524000"/>
            <a:ext cx="3606800" cy="3860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ccent-GTLM">
            <a:extLst>
              <a:ext uri="{FF2B5EF4-FFF2-40B4-BE49-F238E27FC236}">
                <a16:creationId xmlns:a16="http://schemas.microsoft.com/office/drawing/2014/main" id="{42F5F063-41C6-94EC-9086-59EB6C3DE6E7}"/>
              </a:ext>
            </a:extLst>
          </p:cNvPr>
          <p:cNvSpPr/>
          <p:nvPr/>
        </p:nvSpPr>
        <p:spPr>
          <a:xfrm>
            <a:off x="8305800" y="1701800"/>
            <a:ext cx="63500" cy="3810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itle-GTLM">
            <a:extLst>
              <a:ext uri="{FF2B5EF4-FFF2-40B4-BE49-F238E27FC236}">
                <a16:creationId xmlns:a16="http://schemas.microsoft.com/office/drawing/2014/main" id="{60889A19-5200-E2E8-D9C8-C0F22EC5FD43}"/>
              </a:ext>
            </a:extLst>
          </p:cNvPr>
          <p:cNvSpPr txBox="1"/>
          <p:nvPr/>
        </p:nvSpPr>
        <p:spPr>
          <a:xfrm>
            <a:off x="8483600" y="1676400"/>
            <a:ext cx="1676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72B4D"/>
                </a:solidFill>
                <a:latin typeface="Aptos" panose="020B0004020202020204" pitchFamily="34" charset="0"/>
              </a:rPr>
              <a:t>GTLM</a:t>
            </a:r>
          </a:p>
        </p:txBody>
      </p:sp>
      <p:sp>
        <p:nvSpPr>
          <p:cNvPr id="62" name="GTLM-NodeText">
            <a:extLst>
              <a:ext uri="{FF2B5EF4-FFF2-40B4-BE49-F238E27FC236}">
                <a16:creationId xmlns:a16="http://schemas.microsoft.com/office/drawing/2014/main" id="{971236DB-8AE3-6B97-ECED-DB7648A74631}"/>
              </a:ext>
            </a:extLst>
          </p:cNvPr>
          <p:cNvSpPr/>
          <p:nvPr/>
        </p:nvSpPr>
        <p:spPr>
          <a:xfrm>
            <a:off x="8343900" y="2438400"/>
            <a:ext cx="939800" cy="60960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Node text</a:t>
            </a:r>
          </a:p>
        </p:txBody>
      </p:sp>
      <p:cxnSp>
        <p:nvCxnSpPr>
          <p:cNvPr id="63" name="GTLM-Arrow1">
            <a:extLst>
              <a:ext uri="{FF2B5EF4-FFF2-40B4-BE49-F238E27FC236}">
                <a16:creationId xmlns:a16="http://schemas.microsoft.com/office/drawing/2014/main" id="{1E472926-DA12-B9B0-F081-17737116A4CF}"/>
              </a:ext>
            </a:extLst>
          </p:cNvPr>
          <p:cNvCxnSpPr/>
          <p:nvPr/>
        </p:nvCxnSpPr>
        <p:spPr>
          <a:xfrm>
            <a:off x="9321800" y="2743200"/>
            <a:ext cx="2286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GTLM-LLM">
            <a:extLst>
              <a:ext uri="{FF2B5EF4-FFF2-40B4-BE49-F238E27FC236}">
                <a16:creationId xmlns:a16="http://schemas.microsoft.com/office/drawing/2014/main" id="{E15BBB09-317D-CB5E-B42B-A1E84EED8DED}"/>
              </a:ext>
            </a:extLst>
          </p:cNvPr>
          <p:cNvSpPr/>
          <p:nvPr/>
        </p:nvSpPr>
        <p:spPr>
          <a:xfrm>
            <a:off x="9588500" y="2438400"/>
            <a:ext cx="635000" cy="609600"/>
          </a:xfrm>
          <a:prstGeom prst="roundRect">
            <a:avLst/>
          </a:prstGeom>
          <a:solidFill>
            <a:srgbClr val="ECECFA"/>
          </a:solidFill>
          <a:ln w="12700">
            <a:solidFill>
              <a:srgbClr val="ECE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B5BD6"/>
                </a:solidFill>
                <a:latin typeface="Aptos" panose="020B0004020202020204" pitchFamily="34" charset="0"/>
              </a:rPr>
              <a:t>LLM</a:t>
            </a:r>
          </a:p>
        </p:txBody>
      </p:sp>
      <p:cxnSp>
        <p:nvCxnSpPr>
          <p:cNvPr id="65" name="GTLM-Arrow2">
            <a:extLst>
              <a:ext uri="{FF2B5EF4-FFF2-40B4-BE49-F238E27FC236}">
                <a16:creationId xmlns:a16="http://schemas.microsoft.com/office/drawing/2014/main" id="{E8AE6967-9058-581E-3080-1B8898B91D07}"/>
              </a:ext>
            </a:extLst>
          </p:cNvPr>
          <p:cNvCxnSpPr/>
          <p:nvPr/>
        </p:nvCxnSpPr>
        <p:spPr>
          <a:xfrm>
            <a:off x="10261600" y="2743200"/>
            <a:ext cx="241300" cy="0"/>
          </a:xfrm>
          <a:prstGeom prst="line">
            <a:avLst/>
          </a:prstGeom>
          <a:ln w="2159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GTLM-Answer">
            <a:extLst>
              <a:ext uri="{FF2B5EF4-FFF2-40B4-BE49-F238E27FC236}">
                <a16:creationId xmlns:a16="http://schemas.microsoft.com/office/drawing/2014/main" id="{3510D96E-6B82-4200-F759-14808AB664A9}"/>
              </a:ext>
            </a:extLst>
          </p:cNvPr>
          <p:cNvSpPr/>
          <p:nvPr/>
        </p:nvSpPr>
        <p:spPr>
          <a:xfrm>
            <a:off x="10541000" y="2438400"/>
            <a:ext cx="977900" cy="60960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EF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Text
answer</a:t>
            </a:r>
          </a:p>
        </p:txBody>
      </p:sp>
      <p:cxnSp>
        <p:nvCxnSpPr>
          <p:cNvPr id="67" name="GTLM-Graph-Edge-0">
            <a:extLst>
              <a:ext uri="{FF2B5EF4-FFF2-40B4-BE49-F238E27FC236}">
                <a16:creationId xmlns:a16="http://schemas.microsoft.com/office/drawing/2014/main" id="{A99FA02F-0AD2-140E-C85C-DDF95C169559}"/>
              </a:ext>
            </a:extLst>
          </p:cNvPr>
          <p:cNvCxnSpPr/>
          <p:nvPr/>
        </p:nvCxnSpPr>
        <p:spPr>
          <a:xfrm flipV="1">
            <a:off x="8422005" y="3253105"/>
            <a:ext cx="142875" cy="125730"/>
          </a:xfrm>
          <a:prstGeom prst="line">
            <a:avLst/>
          </a:prstGeom>
          <a:ln w="857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TLM-Graph-Edge-1">
            <a:extLst>
              <a:ext uri="{FF2B5EF4-FFF2-40B4-BE49-F238E27FC236}">
                <a16:creationId xmlns:a16="http://schemas.microsoft.com/office/drawing/2014/main" id="{19459A14-D1D7-708A-FF08-AB18DA6475CD}"/>
              </a:ext>
            </a:extLst>
          </p:cNvPr>
          <p:cNvCxnSpPr/>
          <p:nvPr/>
        </p:nvCxnSpPr>
        <p:spPr>
          <a:xfrm>
            <a:off x="8564880" y="3253105"/>
            <a:ext cx="171450" cy="102870"/>
          </a:xfrm>
          <a:prstGeom prst="line">
            <a:avLst/>
          </a:prstGeom>
          <a:ln w="857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TLM-Graph-Edge-2">
            <a:extLst>
              <a:ext uri="{FF2B5EF4-FFF2-40B4-BE49-F238E27FC236}">
                <a16:creationId xmlns:a16="http://schemas.microsoft.com/office/drawing/2014/main" id="{5059A103-8DF2-7948-15F2-E9CBC51D0747}"/>
              </a:ext>
            </a:extLst>
          </p:cNvPr>
          <p:cNvCxnSpPr/>
          <p:nvPr/>
        </p:nvCxnSpPr>
        <p:spPr>
          <a:xfrm>
            <a:off x="8422005" y="3378835"/>
            <a:ext cx="74295" cy="171450"/>
          </a:xfrm>
          <a:prstGeom prst="line">
            <a:avLst/>
          </a:prstGeom>
          <a:ln w="857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TLM-Graph-Edge-3">
            <a:extLst>
              <a:ext uri="{FF2B5EF4-FFF2-40B4-BE49-F238E27FC236}">
                <a16:creationId xmlns:a16="http://schemas.microsoft.com/office/drawing/2014/main" id="{268F78E4-6D66-645E-4764-CFA1FB098AEF}"/>
              </a:ext>
            </a:extLst>
          </p:cNvPr>
          <p:cNvCxnSpPr/>
          <p:nvPr/>
        </p:nvCxnSpPr>
        <p:spPr>
          <a:xfrm>
            <a:off x="8496300" y="3550285"/>
            <a:ext cx="211455" cy="5715"/>
          </a:xfrm>
          <a:prstGeom prst="line">
            <a:avLst/>
          </a:prstGeom>
          <a:ln w="857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TLM-Graph-Edge-4">
            <a:extLst>
              <a:ext uri="{FF2B5EF4-FFF2-40B4-BE49-F238E27FC236}">
                <a16:creationId xmlns:a16="http://schemas.microsoft.com/office/drawing/2014/main" id="{A750F158-1E8A-9255-63AD-A6A356EDF6B0}"/>
              </a:ext>
            </a:extLst>
          </p:cNvPr>
          <p:cNvCxnSpPr/>
          <p:nvPr/>
        </p:nvCxnSpPr>
        <p:spPr>
          <a:xfrm flipH="1">
            <a:off x="8707755" y="3355975"/>
            <a:ext cx="28575" cy="200025"/>
          </a:xfrm>
          <a:prstGeom prst="line">
            <a:avLst/>
          </a:prstGeom>
          <a:ln w="8572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TLM-Graph-KeyEdge">
            <a:extLst>
              <a:ext uri="{FF2B5EF4-FFF2-40B4-BE49-F238E27FC236}">
                <a16:creationId xmlns:a16="http://schemas.microsoft.com/office/drawing/2014/main" id="{1C0D3730-FC62-4060-C98B-05033CA74925}"/>
              </a:ext>
            </a:extLst>
          </p:cNvPr>
          <p:cNvCxnSpPr/>
          <p:nvPr/>
        </p:nvCxnSpPr>
        <p:spPr>
          <a:xfrm>
            <a:off x="8564880" y="3253105"/>
            <a:ext cx="142875" cy="302895"/>
          </a:xfrm>
          <a:prstGeom prst="line">
            <a:avLst/>
          </a:prstGeom>
          <a:ln w="10858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GTLM-Graph-Node-0">
            <a:extLst>
              <a:ext uri="{FF2B5EF4-FFF2-40B4-BE49-F238E27FC236}">
                <a16:creationId xmlns:a16="http://schemas.microsoft.com/office/drawing/2014/main" id="{2C5C55EB-1F95-6FAD-2008-056AA5021392}"/>
              </a:ext>
            </a:extLst>
          </p:cNvPr>
          <p:cNvSpPr/>
          <p:nvPr/>
        </p:nvSpPr>
        <p:spPr>
          <a:xfrm>
            <a:off x="8382000" y="3338830"/>
            <a:ext cx="80010" cy="800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GTLM-Graph-Node-1">
            <a:extLst>
              <a:ext uri="{FF2B5EF4-FFF2-40B4-BE49-F238E27FC236}">
                <a16:creationId xmlns:a16="http://schemas.microsoft.com/office/drawing/2014/main" id="{CEF13899-5F18-DC2D-521D-92F9B633E4C1}"/>
              </a:ext>
            </a:extLst>
          </p:cNvPr>
          <p:cNvSpPr/>
          <p:nvPr/>
        </p:nvSpPr>
        <p:spPr>
          <a:xfrm>
            <a:off x="8524875" y="3213100"/>
            <a:ext cx="80010" cy="8001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GTLM-Graph-Node-2">
            <a:extLst>
              <a:ext uri="{FF2B5EF4-FFF2-40B4-BE49-F238E27FC236}">
                <a16:creationId xmlns:a16="http://schemas.microsoft.com/office/drawing/2014/main" id="{9F59798F-D044-C244-A9FD-37D9966BD8A4}"/>
              </a:ext>
            </a:extLst>
          </p:cNvPr>
          <p:cNvSpPr/>
          <p:nvPr/>
        </p:nvSpPr>
        <p:spPr>
          <a:xfrm>
            <a:off x="8696325" y="3315970"/>
            <a:ext cx="80010" cy="800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GTLM-Graph-Node-3">
            <a:extLst>
              <a:ext uri="{FF2B5EF4-FFF2-40B4-BE49-F238E27FC236}">
                <a16:creationId xmlns:a16="http://schemas.microsoft.com/office/drawing/2014/main" id="{D3B0BA54-AA5F-0347-D8A7-9FEF10F808F9}"/>
              </a:ext>
            </a:extLst>
          </p:cNvPr>
          <p:cNvSpPr/>
          <p:nvPr/>
        </p:nvSpPr>
        <p:spPr>
          <a:xfrm>
            <a:off x="8456295" y="3510280"/>
            <a:ext cx="80010" cy="800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GTLM-Graph-Node-4">
            <a:extLst>
              <a:ext uri="{FF2B5EF4-FFF2-40B4-BE49-F238E27FC236}">
                <a16:creationId xmlns:a16="http://schemas.microsoft.com/office/drawing/2014/main" id="{B59A25F6-76B9-0C51-60B9-45848F754F8F}"/>
              </a:ext>
            </a:extLst>
          </p:cNvPr>
          <p:cNvSpPr/>
          <p:nvPr/>
        </p:nvSpPr>
        <p:spPr>
          <a:xfrm>
            <a:off x="8667750" y="3515995"/>
            <a:ext cx="80010" cy="800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TLM-LinksLabel">
            <a:extLst>
              <a:ext uri="{FF2B5EF4-FFF2-40B4-BE49-F238E27FC236}">
                <a16:creationId xmlns:a16="http://schemas.microsoft.com/office/drawing/2014/main" id="{1C345E78-4776-1516-F647-BB9071F8547A}"/>
              </a:ext>
            </a:extLst>
          </p:cNvPr>
          <p:cNvSpPr txBox="1"/>
          <p:nvPr/>
        </p:nvSpPr>
        <p:spPr>
          <a:xfrm>
            <a:off x="8864600" y="3289300"/>
            <a:ext cx="1041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2A9D8F"/>
                </a:solidFill>
                <a:latin typeface="Aptos" panose="020B0004020202020204" pitchFamily="34" charset="0"/>
              </a:rPr>
              <a:t>Graph links</a:t>
            </a:r>
          </a:p>
        </p:txBody>
      </p:sp>
      <p:sp>
        <p:nvSpPr>
          <p:cNvPr id="79" name="GTLM-AttentionLabel">
            <a:extLst>
              <a:ext uri="{FF2B5EF4-FFF2-40B4-BE49-F238E27FC236}">
                <a16:creationId xmlns:a16="http://schemas.microsoft.com/office/drawing/2014/main" id="{6438B275-8173-62B5-C4B6-6F027FFB001D}"/>
              </a:ext>
            </a:extLst>
          </p:cNvPr>
          <p:cNvSpPr txBox="1"/>
          <p:nvPr/>
        </p:nvSpPr>
        <p:spPr>
          <a:xfrm>
            <a:off x="9969500" y="3289300"/>
            <a:ext cx="1473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5B5BD6"/>
                </a:solidFill>
                <a:latin typeface="Aptos" panose="020B0004020202020204" pitchFamily="34" charset="0"/>
              </a:rPr>
              <a:t>guide attention</a:t>
            </a:r>
          </a:p>
        </p:txBody>
      </p:sp>
      <p:cxnSp>
        <p:nvCxnSpPr>
          <p:cNvPr id="80" name="GTLM-AttentionArrow">
            <a:extLst>
              <a:ext uri="{FF2B5EF4-FFF2-40B4-BE49-F238E27FC236}">
                <a16:creationId xmlns:a16="http://schemas.microsoft.com/office/drawing/2014/main" id="{AE616E59-10F3-A6CB-F750-B57FE2EB37D2}"/>
              </a:ext>
            </a:extLst>
          </p:cNvPr>
          <p:cNvCxnSpPr/>
          <p:nvPr/>
        </p:nvCxnSpPr>
        <p:spPr>
          <a:xfrm flipH="1" flipV="1">
            <a:off x="9969500" y="3060700"/>
            <a:ext cx="635000" cy="241300"/>
          </a:xfrm>
          <a:prstGeom prst="line">
            <a:avLst/>
          </a:prstGeom>
          <a:ln w="2286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GTLM-Description">
            <a:extLst>
              <a:ext uri="{FF2B5EF4-FFF2-40B4-BE49-F238E27FC236}">
                <a16:creationId xmlns:a16="http://schemas.microsoft.com/office/drawing/2014/main" id="{283149DB-AB0F-C21B-49FA-B788238D5230}"/>
              </a:ext>
            </a:extLst>
          </p:cNvPr>
          <p:cNvSpPr txBox="1"/>
          <p:nvPr/>
        </p:nvSpPr>
        <p:spPr>
          <a:xfrm>
            <a:off x="8331200" y="3733800"/>
            <a:ext cx="3200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72B4D"/>
                </a:solidFill>
                <a:latin typeface="Aptos" panose="020B0004020202020204" pitchFamily="34" charset="0"/>
              </a:rPr>
              <a:t>The LLM reads each node's text.
Links guide what it pays attention to.</a:t>
            </a:r>
          </a:p>
        </p:txBody>
      </p:sp>
      <p:sp>
        <p:nvSpPr>
          <p:cNvPr id="82" name="GTLM-Key">
            <a:extLst>
              <a:ext uri="{FF2B5EF4-FFF2-40B4-BE49-F238E27FC236}">
                <a16:creationId xmlns:a16="http://schemas.microsoft.com/office/drawing/2014/main" id="{F76839FF-B75F-61C4-1F21-61CAD3009078}"/>
              </a:ext>
            </a:extLst>
          </p:cNvPr>
          <p:cNvSpPr/>
          <p:nvPr/>
        </p:nvSpPr>
        <p:spPr>
          <a:xfrm>
            <a:off x="8331200" y="4356100"/>
            <a:ext cx="3200400" cy="482600"/>
          </a:xfrm>
          <a:prstGeom prst="roundRect">
            <a:avLst/>
          </a:prstGeom>
          <a:solidFill>
            <a:srgbClr val="ECECFA"/>
          </a:solidFill>
          <a:ln w="12700">
            <a:solidFill>
              <a:srgbClr val="ECE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72B4D"/>
                </a:solidFill>
                <a:latin typeface="Aptos" panose="020B0004020202020204" pitchFamily="34" charset="0"/>
              </a:rPr>
              <a:t>Graph changes attention.</a:t>
            </a:r>
          </a:p>
        </p:txBody>
      </p:sp>
      <p:sp>
        <p:nvSpPr>
          <p:cNvPr id="83" name="GTLM-Source">
            <a:hlinkClick r:id="rId4"/>
            <a:extLst>
              <a:ext uri="{FF2B5EF4-FFF2-40B4-BE49-F238E27FC236}">
                <a16:creationId xmlns:a16="http://schemas.microsoft.com/office/drawing/2014/main" id="{681B0397-CF11-E6B8-D15A-584794100757}"/>
              </a:ext>
            </a:extLst>
          </p:cNvPr>
          <p:cNvSpPr txBox="1"/>
          <p:nvPr/>
        </p:nvSpPr>
        <p:spPr>
          <a:xfrm>
            <a:off x="8331200" y="4978400"/>
            <a:ext cx="320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5B5BD6"/>
                </a:solidFill>
                <a:latin typeface="Aptos" panose="020B0004020202020204" pitchFamily="34" charset="0"/>
              </a:rPr>
              <a:t>Vajda, 2026 preprint</a:t>
            </a:r>
          </a:p>
        </p:txBody>
      </p:sp>
      <p:sp>
        <p:nvSpPr>
          <p:cNvPr id="84" name="TakeawayBar">
            <a:extLst>
              <a:ext uri="{FF2B5EF4-FFF2-40B4-BE49-F238E27FC236}">
                <a16:creationId xmlns:a16="http://schemas.microsoft.com/office/drawing/2014/main" id="{6971B7C5-9EE1-A42B-B4F8-BEA24E174D96}"/>
              </a:ext>
            </a:extLst>
          </p:cNvPr>
          <p:cNvSpPr/>
          <p:nvPr/>
        </p:nvSpPr>
        <p:spPr>
          <a:xfrm>
            <a:off x="457200" y="5524500"/>
            <a:ext cx="11277600" cy="533400"/>
          </a:xfrm>
          <a:prstGeom prst="roundRect">
            <a:avLst/>
          </a:prstGeom>
          <a:solidFill>
            <a:srgbClr val="172B4D"/>
          </a:solidFill>
          <a:ln w="12700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5400" rIns="203200" bIns="2540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All three help the LLM read a graph.</a:t>
            </a:r>
          </a:p>
        </p:txBody>
      </p:sp>
    </p:spTree>
    <p:extLst>
      <p:ext uri="{BB962C8B-B14F-4D97-AF65-F5344CB8AC3E}">
        <p14:creationId xmlns:p14="http://schemas.microsoft.com/office/powerpoint/2010/main" val="392386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pla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8AEBC7DE-545C-C8A0-2C3D-AF8F5E2D99B9}"/>
              </a:ext>
            </a:extLst>
          </p:cNvPr>
          <p:cNvSpPr txBox="1"/>
          <p:nvPr/>
        </p:nvSpPr>
        <p:spPr>
          <a:xfrm>
            <a:off x="508000" y="203200"/>
            <a:ext cx="1117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2A9D8F"/>
                </a:solidFill>
                <a:latin typeface="Aptos" panose="020B0004020202020204" pitchFamily="34" charset="0"/>
              </a:rPr>
              <a:t>PROPOSED DIRECTION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EC0D7EEB-A8E3-7A89-5EF2-04348E4687AC}"/>
              </a:ext>
            </a:extLst>
          </p:cNvPr>
          <p:cNvSpPr txBox="1"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72B4D"/>
                </a:solidFill>
                <a:latin typeface="Aptos" panose="020B0004020202020204" pitchFamily="34" charset="0"/>
              </a:rPr>
              <a:t>Our plan: Graph in → Graph out</a:t>
            </a:r>
          </a:p>
        </p:txBody>
      </p:sp>
      <p:sp>
        <p:nvSpPr>
          <p:cNvPr id="4" name="SlideSubtitle">
            <a:extLst>
              <a:ext uri="{FF2B5EF4-FFF2-40B4-BE49-F238E27FC236}">
                <a16:creationId xmlns:a16="http://schemas.microsoft.com/office/drawing/2014/main" id="{0D90C586-F1A2-80EC-55A5-657B93BBAC8E}"/>
              </a:ext>
            </a:extLst>
          </p:cNvPr>
          <p:cNvSpPr txBox="1"/>
          <p:nvPr/>
        </p:nvSpPr>
        <p:spPr>
          <a:xfrm>
            <a:off x="508000" y="1041400"/>
            <a:ext cx="1117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2657A"/>
                </a:solidFill>
                <a:latin typeface="Aptos" panose="020B0004020202020204" pitchFamily="34" charset="0"/>
              </a:rPr>
              <a:t>Can a pretrained LLM rebuild missing connections?</a:t>
            </a:r>
          </a:p>
        </p:txBody>
      </p:sp>
      <p:sp>
        <p:nvSpPr>
          <p:cNvPr id="5" name="Stage-Input">
            <a:extLst>
              <a:ext uri="{FF2B5EF4-FFF2-40B4-BE49-F238E27FC236}">
                <a16:creationId xmlns:a16="http://schemas.microsoft.com/office/drawing/2014/main" id="{B51E3356-E858-F18A-36B0-83B40AF27FCD}"/>
              </a:ext>
            </a:extLst>
          </p:cNvPr>
          <p:cNvSpPr/>
          <p:nvPr/>
        </p:nvSpPr>
        <p:spPr>
          <a:xfrm>
            <a:off x="457200" y="1676400"/>
            <a:ext cx="1778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ge-Input-Accent">
            <a:extLst>
              <a:ext uri="{FF2B5EF4-FFF2-40B4-BE49-F238E27FC236}">
                <a16:creationId xmlns:a16="http://schemas.microsoft.com/office/drawing/2014/main" id="{79630E49-3334-9FF7-6E1B-121C1A99B633}"/>
              </a:ext>
            </a:extLst>
          </p:cNvPr>
          <p:cNvSpPr/>
          <p:nvPr/>
        </p:nvSpPr>
        <p:spPr>
          <a:xfrm>
            <a:off x="609600" y="1803400"/>
            <a:ext cx="1473200" cy="635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age-Encoder">
            <a:extLst>
              <a:ext uri="{FF2B5EF4-FFF2-40B4-BE49-F238E27FC236}">
                <a16:creationId xmlns:a16="http://schemas.microsoft.com/office/drawing/2014/main" id="{D5043486-272C-2CB5-754F-26AC519482A3}"/>
              </a:ext>
            </a:extLst>
          </p:cNvPr>
          <p:cNvSpPr/>
          <p:nvPr/>
        </p:nvSpPr>
        <p:spPr>
          <a:xfrm>
            <a:off x="2743200" y="1676400"/>
            <a:ext cx="1905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ge-Encoder-Accent">
            <a:extLst>
              <a:ext uri="{FF2B5EF4-FFF2-40B4-BE49-F238E27FC236}">
                <a16:creationId xmlns:a16="http://schemas.microsoft.com/office/drawing/2014/main" id="{24919AD6-DEF9-BA4E-110A-2740B00717F3}"/>
              </a:ext>
            </a:extLst>
          </p:cNvPr>
          <p:cNvSpPr/>
          <p:nvPr/>
        </p:nvSpPr>
        <p:spPr>
          <a:xfrm>
            <a:off x="2895600" y="1803400"/>
            <a:ext cx="1600200" cy="6350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ge-LLM">
            <a:extLst>
              <a:ext uri="{FF2B5EF4-FFF2-40B4-BE49-F238E27FC236}">
                <a16:creationId xmlns:a16="http://schemas.microsoft.com/office/drawing/2014/main" id="{4BA9F0A5-2167-2E61-4F77-3C15F6897C5B}"/>
              </a:ext>
            </a:extLst>
          </p:cNvPr>
          <p:cNvSpPr/>
          <p:nvPr/>
        </p:nvSpPr>
        <p:spPr>
          <a:xfrm>
            <a:off x="5156200" y="1676400"/>
            <a:ext cx="17272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ge-LLM-Accent">
            <a:extLst>
              <a:ext uri="{FF2B5EF4-FFF2-40B4-BE49-F238E27FC236}">
                <a16:creationId xmlns:a16="http://schemas.microsoft.com/office/drawing/2014/main" id="{82F50D4E-BC53-70BF-6241-BDCE76B2C269}"/>
              </a:ext>
            </a:extLst>
          </p:cNvPr>
          <p:cNvSpPr/>
          <p:nvPr/>
        </p:nvSpPr>
        <p:spPr>
          <a:xfrm>
            <a:off x="5308600" y="1803400"/>
            <a:ext cx="1422400" cy="635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ge-Decoder">
            <a:extLst>
              <a:ext uri="{FF2B5EF4-FFF2-40B4-BE49-F238E27FC236}">
                <a16:creationId xmlns:a16="http://schemas.microsoft.com/office/drawing/2014/main" id="{A72D54CA-2165-43AC-1021-046B6AF9E425}"/>
              </a:ext>
            </a:extLst>
          </p:cNvPr>
          <p:cNvSpPr/>
          <p:nvPr/>
        </p:nvSpPr>
        <p:spPr>
          <a:xfrm>
            <a:off x="7391400" y="1676400"/>
            <a:ext cx="1905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ge-Decoder-Accent">
            <a:extLst>
              <a:ext uri="{FF2B5EF4-FFF2-40B4-BE49-F238E27FC236}">
                <a16:creationId xmlns:a16="http://schemas.microsoft.com/office/drawing/2014/main" id="{F8AEBAFC-2824-6C7A-B10E-C71C88402775}"/>
              </a:ext>
            </a:extLst>
          </p:cNvPr>
          <p:cNvSpPr/>
          <p:nvPr/>
        </p:nvSpPr>
        <p:spPr>
          <a:xfrm>
            <a:off x="7543800" y="1803400"/>
            <a:ext cx="1600200" cy="635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ge-Output">
            <a:extLst>
              <a:ext uri="{FF2B5EF4-FFF2-40B4-BE49-F238E27FC236}">
                <a16:creationId xmlns:a16="http://schemas.microsoft.com/office/drawing/2014/main" id="{F185805C-D614-AA42-04F0-CFC0BC88DB9D}"/>
              </a:ext>
            </a:extLst>
          </p:cNvPr>
          <p:cNvSpPr/>
          <p:nvPr/>
        </p:nvSpPr>
        <p:spPr>
          <a:xfrm>
            <a:off x="9804400" y="1676400"/>
            <a:ext cx="19304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ge-Output-Accent">
            <a:extLst>
              <a:ext uri="{FF2B5EF4-FFF2-40B4-BE49-F238E27FC236}">
                <a16:creationId xmlns:a16="http://schemas.microsoft.com/office/drawing/2014/main" id="{DFA8F1C7-2A33-1273-9022-67B48FBCE66B}"/>
              </a:ext>
            </a:extLst>
          </p:cNvPr>
          <p:cNvSpPr/>
          <p:nvPr/>
        </p:nvSpPr>
        <p:spPr>
          <a:xfrm>
            <a:off x="9956800" y="1803400"/>
            <a:ext cx="1625600" cy="635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PipelineArrow-0">
            <a:extLst>
              <a:ext uri="{FF2B5EF4-FFF2-40B4-BE49-F238E27FC236}">
                <a16:creationId xmlns:a16="http://schemas.microsoft.com/office/drawing/2014/main" id="{3BC04677-A944-1149-5603-96CE51D3EBB9}"/>
              </a:ext>
            </a:extLst>
          </p:cNvPr>
          <p:cNvCxnSpPr/>
          <p:nvPr/>
        </p:nvCxnSpPr>
        <p:spPr>
          <a:xfrm>
            <a:off x="2324100" y="2794000"/>
            <a:ext cx="317500" cy="0"/>
          </a:xfrm>
          <a:prstGeom prst="line">
            <a:avLst/>
          </a:prstGeom>
          <a:ln w="2667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ipelineArrow-1">
            <a:extLst>
              <a:ext uri="{FF2B5EF4-FFF2-40B4-BE49-F238E27FC236}">
                <a16:creationId xmlns:a16="http://schemas.microsoft.com/office/drawing/2014/main" id="{DC30D95A-F9F5-BC0C-58CC-D943AF409D2E}"/>
              </a:ext>
            </a:extLst>
          </p:cNvPr>
          <p:cNvCxnSpPr/>
          <p:nvPr/>
        </p:nvCxnSpPr>
        <p:spPr>
          <a:xfrm>
            <a:off x="4737100" y="2794000"/>
            <a:ext cx="317500" cy="0"/>
          </a:xfrm>
          <a:prstGeom prst="line">
            <a:avLst/>
          </a:prstGeom>
          <a:ln w="2667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ipelineArrow-2">
            <a:extLst>
              <a:ext uri="{FF2B5EF4-FFF2-40B4-BE49-F238E27FC236}">
                <a16:creationId xmlns:a16="http://schemas.microsoft.com/office/drawing/2014/main" id="{F2013F6C-4708-B2E1-CB49-E44A0F23706E}"/>
              </a:ext>
            </a:extLst>
          </p:cNvPr>
          <p:cNvCxnSpPr/>
          <p:nvPr/>
        </p:nvCxnSpPr>
        <p:spPr>
          <a:xfrm>
            <a:off x="6972300" y="2794000"/>
            <a:ext cx="317500" cy="0"/>
          </a:xfrm>
          <a:prstGeom prst="line">
            <a:avLst/>
          </a:prstGeom>
          <a:ln w="2667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PipelineArrow-3">
            <a:extLst>
              <a:ext uri="{FF2B5EF4-FFF2-40B4-BE49-F238E27FC236}">
                <a16:creationId xmlns:a16="http://schemas.microsoft.com/office/drawing/2014/main" id="{1AAECF39-6ACD-51F6-8EE1-9D2631FE6C81}"/>
              </a:ext>
            </a:extLst>
          </p:cNvPr>
          <p:cNvCxnSpPr/>
          <p:nvPr/>
        </p:nvCxnSpPr>
        <p:spPr>
          <a:xfrm>
            <a:off x="9385300" y="2794000"/>
            <a:ext cx="317500" cy="0"/>
          </a:xfrm>
          <a:prstGeom prst="line">
            <a:avLst/>
          </a:prstGeom>
          <a:ln w="26670">
            <a:solidFill>
              <a:srgbClr val="52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put-Title">
            <a:extLst>
              <a:ext uri="{FF2B5EF4-FFF2-40B4-BE49-F238E27FC236}">
                <a16:creationId xmlns:a16="http://schemas.microsoft.com/office/drawing/2014/main" id="{97EAC1D2-1782-1259-4925-2B947FE4CD37}"/>
              </a:ext>
            </a:extLst>
          </p:cNvPr>
          <p:cNvSpPr txBox="1"/>
          <p:nvPr/>
        </p:nvSpPr>
        <p:spPr>
          <a:xfrm>
            <a:off x="596900" y="1905000"/>
            <a:ext cx="1498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172B4D"/>
                </a:solidFill>
                <a:latin typeface="Aptos" panose="020B0004020202020204" pitchFamily="34" charset="0"/>
              </a:rPr>
              <a:t>Incomplete
graph</a:t>
            </a:r>
          </a:p>
        </p:txBody>
      </p:sp>
      <p:cxnSp>
        <p:nvCxnSpPr>
          <p:cNvPr id="20" name="Input-Graph-Edge-0">
            <a:extLst>
              <a:ext uri="{FF2B5EF4-FFF2-40B4-BE49-F238E27FC236}">
                <a16:creationId xmlns:a16="http://schemas.microsoft.com/office/drawing/2014/main" id="{E00E015C-CFF5-6E76-F6FC-8A2EF0A50FD1}"/>
              </a:ext>
            </a:extLst>
          </p:cNvPr>
          <p:cNvCxnSpPr/>
          <p:nvPr/>
        </p:nvCxnSpPr>
        <p:spPr>
          <a:xfrm flipV="1">
            <a:off x="1049655" y="2599055"/>
            <a:ext cx="301625" cy="265430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nput-Graph-Edge-1">
            <a:extLst>
              <a:ext uri="{FF2B5EF4-FFF2-40B4-BE49-F238E27FC236}">
                <a16:creationId xmlns:a16="http://schemas.microsoft.com/office/drawing/2014/main" id="{72414E5D-85E0-D66C-29F3-5D9DE938FC40}"/>
              </a:ext>
            </a:extLst>
          </p:cNvPr>
          <p:cNvCxnSpPr/>
          <p:nvPr/>
        </p:nvCxnSpPr>
        <p:spPr>
          <a:xfrm>
            <a:off x="1351280" y="2599055"/>
            <a:ext cx="361950" cy="217170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nput-Graph-Edge-2">
            <a:extLst>
              <a:ext uri="{FF2B5EF4-FFF2-40B4-BE49-F238E27FC236}">
                <a16:creationId xmlns:a16="http://schemas.microsoft.com/office/drawing/2014/main" id="{183FB31C-B458-E4C3-F4BA-504E6DC47ADA}"/>
              </a:ext>
            </a:extLst>
          </p:cNvPr>
          <p:cNvCxnSpPr/>
          <p:nvPr/>
        </p:nvCxnSpPr>
        <p:spPr>
          <a:xfrm>
            <a:off x="1049655" y="2864485"/>
            <a:ext cx="156845" cy="361950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Input-Graph-Edge-3">
            <a:extLst>
              <a:ext uri="{FF2B5EF4-FFF2-40B4-BE49-F238E27FC236}">
                <a16:creationId xmlns:a16="http://schemas.microsoft.com/office/drawing/2014/main" id="{065E18A9-519C-5A50-4702-B6508DF9F7DA}"/>
              </a:ext>
            </a:extLst>
          </p:cNvPr>
          <p:cNvCxnSpPr/>
          <p:nvPr/>
        </p:nvCxnSpPr>
        <p:spPr>
          <a:xfrm>
            <a:off x="1206500" y="3226435"/>
            <a:ext cx="446405" cy="12065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Input-Graph-Edge-4">
            <a:extLst>
              <a:ext uri="{FF2B5EF4-FFF2-40B4-BE49-F238E27FC236}">
                <a16:creationId xmlns:a16="http://schemas.microsoft.com/office/drawing/2014/main" id="{9AF0ADAE-EE7B-905A-9BFD-98F47451DB2D}"/>
              </a:ext>
            </a:extLst>
          </p:cNvPr>
          <p:cNvCxnSpPr/>
          <p:nvPr/>
        </p:nvCxnSpPr>
        <p:spPr>
          <a:xfrm flipH="1">
            <a:off x="1652905" y="2816225"/>
            <a:ext cx="60325" cy="422275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Input-Graph-MissingEdge">
            <a:extLst>
              <a:ext uri="{FF2B5EF4-FFF2-40B4-BE49-F238E27FC236}">
                <a16:creationId xmlns:a16="http://schemas.microsoft.com/office/drawing/2014/main" id="{ED6617CC-5FB0-3797-ABB5-725D64250D42}"/>
              </a:ext>
            </a:extLst>
          </p:cNvPr>
          <p:cNvCxnSpPr/>
          <p:nvPr/>
        </p:nvCxnSpPr>
        <p:spPr>
          <a:xfrm>
            <a:off x="1351280" y="2599055"/>
            <a:ext cx="301625" cy="639445"/>
          </a:xfrm>
          <a:prstGeom prst="line">
            <a:avLst/>
          </a:prstGeom>
          <a:ln w="26543">
            <a:solidFill>
              <a:srgbClr val="E76F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put-Graph-Question">
            <a:extLst>
              <a:ext uri="{FF2B5EF4-FFF2-40B4-BE49-F238E27FC236}">
                <a16:creationId xmlns:a16="http://schemas.microsoft.com/office/drawing/2014/main" id="{D587A532-30AA-E309-756F-A0D8A244EA58}"/>
              </a:ext>
            </a:extLst>
          </p:cNvPr>
          <p:cNvSpPr txBox="1"/>
          <p:nvPr/>
        </p:nvSpPr>
        <p:spPr>
          <a:xfrm>
            <a:off x="1351280" y="2767965"/>
            <a:ext cx="21717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E76F51"/>
                </a:solidFill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27" name="Input-Graph-Node-0">
            <a:extLst>
              <a:ext uri="{FF2B5EF4-FFF2-40B4-BE49-F238E27FC236}">
                <a16:creationId xmlns:a16="http://schemas.microsoft.com/office/drawing/2014/main" id="{5D075592-B6FC-C7BB-C3C9-71584C879720}"/>
              </a:ext>
            </a:extLst>
          </p:cNvPr>
          <p:cNvSpPr/>
          <p:nvPr/>
        </p:nvSpPr>
        <p:spPr>
          <a:xfrm>
            <a:off x="965200" y="2780030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nput-Graph-Node-1">
            <a:extLst>
              <a:ext uri="{FF2B5EF4-FFF2-40B4-BE49-F238E27FC236}">
                <a16:creationId xmlns:a16="http://schemas.microsoft.com/office/drawing/2014/main" id="{523D1077-76A7-893D-1622-5632C3D12C04}"/>
              </a:ext>
            </a:extLst>
          </p:cNvPr>
          <p:cNvSpPr/>
          <p:nvPr/>
        </p:nvSpPr>
        <p:spPr>
          <a:xfrm>
            <a:off x="1266825" y="2514600"/>
            <a:ext cx="168910" cy="16891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nput-Graph-Node-2">
            <a:extLst>
              <a:ext uri="{FF2B5EF4-FFF2-40B4-BE49-F238E27FC236}">
                <a16:creationId xmlns:a16="http://schemas.microsoft.com/office/drawing/2014/main" id="{656E6E81-4ABC-90E1-3A6E-716936357280}"/>
              </a:ext>
            </a:extLst>
          </p:cNvPr>
          <p:cNvSpPr/>
          <p:nvPr/>
        </p:nvSpPr>
        <p:spPr>
          <a:xfrm>
            <a:off x="1628775" y="2731770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nput-Graph-Node-3">
            <a:extLst>
              <a:ext uri="{FF2B5EF4-FFF2-40B4-BE49-F238E27FC236}">
                <a16:creationId xmlns:a16="http://schemas.microsoft.com/office/drawing/2014/main" id="{E0D64875-8D4A-FAF3-0F14-D726FB3CD076}"/>
              </a:ext>
            </a:extLst>
          </p:cNvPr>
          <p:cNvSpPr/>
          <p:nvPr/>
        </p:nvSpPr>
        <p:spPr>
          <a:xfrm>
            <a:off x="1122045" y="3141980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nput-Graph-Node-4">
            <a:extLst>
              <a:ext uri="{FF2B5EF4-FFF2-40B4-BE49-F238E27FC236}">
                <a16:creationId xmlns:a16="http://schemas.microsoft.com/office/drawing/2014/main" id="{D60C99C3-3FB4-EF2B-A8A0-21C84A9F0C57}"/>
              </a:ext>
            </a:extLst>
          </p:cNvPr>
          <p:cNvSpPr/>
          <p:nvPr/>
        </p:nvSpPr>
        <p:spPr>
          <a:xfrm>
            <a:off x="1568450" y="3154045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nput-Caption">
            <a:extLst>
              <a:ext uri="{FF2B5EF4-FFF2-40B4-BE49-F238E27FC236}">
                <a16:creationId xmlns:a16="http://schemas.microsoft.com/office/drawing/2014/main" id="{D0CCBECB-D3ED-FF60-5CAD-58BAF9EF216E}"/>
              </a:ext>
            </a:extLst>
          </p:cNvPr>
          <p:cNvSpPr txBox="1"/>
          <p:nvPr/>
        </p:nvSpPr>
        <p:spPr>
          <a:xfrm>
            <a:off x="609600" y="3517900"/>
            <a:ext cx="1473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E76F51"/>
                </a:solidFill>
                <a:latin typeface="Aptos" panose="020B0004020202020204" pitchFamily="34" charset="0"/>
              </a:rPr>
              <a:t>A link is hidden.</a:t>
            </a:r>
          </a:p>
        </p:txBody>
      </p:sp>
      <p:sp>
        <p:nvSpPr>
          <p:cNvPr id="33" name="Encoder-Title">
            <a:extLst>
              <a:ext uri="{FF2B5EF4-FFF2-40B4-BE49-F238E27FC236}">
                <a16:creationId xmlns:a16="http://schemas.microsoft.com/office/drawing/2014/main" id="{C6E43D29-1B93-C687-DB46-6EC261D43C85}"/>
              </a:ext>
            </a:extLst>
          </p:cNvPr>
          <p:cNvSpPr txBox="1"/>
          <p:nvPr/>
        </p:nvSpPr>
        <p:spPr>
          <a:xfrm>
            <a:off x="2832100" y="2565400"/>
            <a:ext cx="1600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172B4D"/>
                </a:solidFill>
                <a:latin typeface="Aptos" panose="020B0004020202020204" pitchFamily="34" charset="0"/>
              </a:rPr>
              <a:t>Our graph
encoder</a:t>
            </a:r>
          </a:p>
        </p:txBody>
      </p:sp>
      <p:sp>
        <p:nvSpPr>
          <p:cNvPr id="64" name="LLM-Title">
            <a:extLst>
              <a:ext uri="{FF2B5EF4-FFF2-40B4-BE49-F238E27FC236}">
                <a16:creationId xmlns:a16="http://schemas.microsoft.com/office/drawing/2014/main" id="{C400F7A6-ED6F-903E-5A34-A7598377B3CE}"/>
              </a:ext>
            </a:extLst>
          </p:cNvPr>
          <p:cNvSpPr txBox="1"/>
          <p:nvPr/>
        </p:nvSpPr>
        <p:spPr>
          <a:xfrm>
            <a:off x="5295900" y="2136140"/>
            <a:ext cx="1447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172B4D"/>
                </a:solidFill>
                <a:latin typeface="Aptos" panose="020B0004020202020204" pitchFamily="34" charset="0"/>
              </a:rPr>
              <a:t>Pretrained
LLM</a:t>
            </a:r>
          </a:p>
        </p:txBody>
      </p:sp>
      <p:sp>
        <p:nvSpPr>
          <p:cNvPr id="66" name="LLM-Caption">
            <a:extLst>
              <a:ext uri="{FF2B5EF4-FFF2-40B4-BE49-F238E27FC236}">
                <a16:creationId xmlns:a16="http://schemas.microsoft.com/office/drawing/2014/main" id="{3851DF72-4C52-D851-98C5-D48F38DFEB16}"/>
              </a:ext>
            </a:extLst>
          </p:cNvPr>
          <p:cNvSpPr txBox="1"/>
          <p:nvPr/>
        </p:nvSpPr>
        <p:spPr>
          <a:xfrm>
            <a:off x="5295900" y="3086099"/>
            <a:ext cx="1473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5B5BD6"/>
                </a:solidFill>
                <a:latin typeface="Aptos" panose="020B0004020202020204" pitchFamily="34" charset="0"/>
              </a:rPr>
              <a:t>Processes all graph tokens</a:t>
            </a:r>
          </a:p>
        </p:txBody>
      </p:sp>
      <p:sp>
        <p:nvSpPr>
          <p:cNvPr id="67" name="Decoder-Title">
            <a:extLst>
              <a:ext uri="{FF2B5EF4-FFF2-40B4-BE49-F238E27FC236}">
                <a16:creationId xmlns:a16="http://schemas.microsoft.com/office/drawing/2014/main" id="{8BEFC2F4-C859-0C3A-5A15-8D8C0166A750}"/>
              </a:ext>
            </a:extLst>
          </p:cNvPr>
          <p:cNvSpPr txBox="1"/>
          <p:nvPr/>
        </p:nvSpPr>
        <p:spPr>
          <a:xfrm>
            <a:off x="7543800" y="1905000"/>
            <a:ext cx="1600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172B4D"/>
                </a:solidFill>
                <a:latin typeface="Aptos" panose="020B0004020202020204" pitchFamily="34" charset="0"/>
              </a:rPr>
              <a:t>Graph
decoder</a:t>
            </a:r>
          </a:p>
        </p:txBody>
      </p:sp>
      <p:sp>
        <p:nvSpPr>
          <p:cNvPr id="71" name="Decoder-Caption">
            <a:extLst>
              <a:ext uri="{FF2B5EF4-FFF2-40B4-BE49-F238E27FC236}">
                <a16:creationId xmlns:a16="http://schemas.microsoft.com/office/drawing/2014/main" id="{55007CD7-21C6-4109-8D35-CA756FBDE120}"/>
              </a:ext>
            </a:extLst>
          </p:cNvPr>
          <p:cNvSpPr txBox="1"/>
          <p:nvPr/>
        </p:nvSpPr>
        <p:spPr>
          <a:xfrm>
            <a:off x="7543800" y="3302000"/>
            <a:ext cx="1600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2A9D8F"/>
                </a:solidFill>
                <a:latin typeface="Aptos" panose="020B0004020202020204" pitchFamily="34" charset="0"/>
              </a:rPr>
              <a:t>Turns model output into links</a:t>
            </a:r>
          </a:p>
        </p:txBody>
      </p:sp>
      <p:sp>
        <p:nvSpPr>
          <p:cNvPr id="72" name="Output-Title">
            <a:extLst>
              <a:ext uri="{FF2B5EF4-FFF2-40B4-BE49-F238E27FC236}">
                <a16:creationId xmlns:a16="http://schemas.microsoft.com/office/drawing/2014/main" id="{D4A935BF-3DB4-AACB-5977-43794574459F}"/>
              </a:ext>
            </a:extLst>
          </p:cNvPr>
          <p:cNvSpPr txBox="1"/>
          <p:nvPr/>
        </p:nvSpPr>
        <p:spPr>
          <a:xfrm>
            <a:off x="9956800" y="1905000"/>
            <a:ext cx="1625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172B4D"/>
                </a:solidFill>
                <a:latin typeface="Aptos" panose="020B0004020202020204" pitchFamily="34" charset="0"/>
              </a:rPr>
              <a:t>Predicted
graph</a:t>
            </a:r>
          </a:p>
        </p:txBody>
      </p:sp>
      <p:cxnSp>
        <p:nvCxnSpPr>
          <p:cNvPr id="73" name="Output-Graph-Edge-0">
            <a:extLst>
              <a:ext uri="{FF2B5EF4-FFF2-40B4-BE49-F238E27FC236}">
                <a16:creationId xmlns:a16="http://schemas.microsoft.com/office/drawing/2014/main" id="{295A7FE1-CE0E-6182-3C95-F7768471BC67}"/>
              </a:ext>
            </a:extLst>
          </p:cNvPr>
          <p:cNvCxnSpPr/>
          <p:nvPr/>
        </p:nvCxnSpPr>
        <p:spPr>
          <a:xfrm flipV="1">
            <a:off x="10409555" y="2599055"/>
            <a:ext cx="301625" cy="265430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Output-Graph-Edge-1">
            <a:extLst>
              <a:ext uri="{FF2B5EF4-FFF2-40B4-BE49-F238E27FC236}">
                <a16:creationId xmlns:a16="http://schemas.microsoft.com/office/drawing/2014/main" id="{E9D577DF-225F-F41C-A550-B71A9EFC1DCA}"/>
              </a:ext>
            </a:extLst>
          </p:cNvPr>
          <p:cNvCxnSpPr/>
          <p:nvPr/>
        </p:nvCxnSpPr>
        <p:spPr>
          <a:xfrm>
            <a:off x="10711180" y="2599055"/>
            <a:ext cx="361950" cy="217170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Output-Graph-Edge-2">
            <a:extLst>
              <a:ext uri="{FF2B5EF4-FFF2-40B4-BE49-F238E27FC236}">
                <a16:creationId xmlns:a16="http://schemas.microsoft.com/office/drawing/2014/main" id="{57EDE6CE-A161-8B2D-D43E-1F3691B16B73}"/>
              </a:ext>
            </a:extLst>
          </p:cNvPr>
          <p:cNvCxnSpPr/>
          <p:nvPr/>
        </p:nvCxnSpPr>
        <p:spPr>
          <a:xfrm>
            <a:off x="10409555" y="2864485"/>
            <a:ext cx="156845" cy="361950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Output-Graph-Edge-3">
            <a:extLst>
              <a:ext uri="{FF2B5EF4-FFF2-40B4-BE49-F238E27FC236}">
                <a16:creationId xmlns:a16="http://schemas.microsoft.com/office/drawing/2014/main" id="{D1E262A9-41F9-3ECE-8D5D-3A351030F419}"/>
              </a:ext>
            </a:extLst>
          </p:cNvPr>
          <p:cNvCxnSpPr/>
          <p:nvPr/>
        </p:nvCxnSpPr>
        <p:spPr>
          <a:xfrm>
            <a:off x="10566400" y="3226435"/>
            <a:ext cx="446405" cy="12065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Output-Graph-Edge-4">
            <a:extLst>
              <a:ext uri="{FF2B5EF4-FFF2-40B4-BE49-F238E27FC236}">
                <a16:creationId xmlns:a16="http://schemas.microsoft.com/office/drawing/2014/main" id="{0F4DF1FF-E6F0-6C16-4594-C839902A9E0A}"/>
              </a:ext>
            </a:extLst>
          </p:cNvPr>
          <p:cNvCxnSpPr/>
          <p:nvPr/>
        </p:nvCxnSpPr>
        <p:spPr>
          <a:xfrm flipH="1">
            <a:off x="11012805" y="2816225"/>
            <a:ext cx="60325" cy="422275"/>
          </a:xfrm>
          <a:prstGeom prst="line">
            <a:avLst/>
          </a:prstGeom>
          <a:ln w="18097">
            <a:solidFill>
              <a:srgbClr val="52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Output-Graph-RecoveredEdge">
            <a:extLst>
              <a:ext uri="{FF2B5EF4-FFF2-40B4-BE49-F238E27FC236}">
                <a16:creationId xmlns:a16="http://schemas.microsoft.com/office/drawing/2014/main" id="{A09C1C00-34AC-A367-FD8C-E8F8AB2C59D2}"/>
              </a:ext>
            </a:extLst>
          </p:cNvPr>
          <p:cNvCxnSpPr/>
          <p:nvPr/>
        </p:nvCxnSpPr>
        <p:spPr>
          <a:xfrm>
            <a:off x="10711180" y="2599055"/>
            <a:ext cx="301625" cy="639445"/>
          </a:xfrm>
          <a:prstGeom prst="line">
            <a:avLst/>
          </a:prstGeom>
          <a:ln w="37401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utput-Graph-Node-0">
            <a:extLst>
              <a:ext uri="{FF2B5EF4-FFF2-40B4-BE49-F238E27FC236}">
                <a16:creationId xmlns:a16="http://schemas.microsoft.com/office/drawing/2014/main" id="{E77590AA-AB2E-F6A3-6510-514FFE5C1FB4}"/>
              </a:ext>
            </a:extLst>
          </p:cNvPr>
          <p:cNvSpPr/>
          <p:nvPr/>
        </p:nvSpPr>
        <p:spPr>
          <a:xfrm>
            <a:off x="10325100" y="2780030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utput-Graph-Node-1">
            <a:extLst>
              <a:ext uri="{FF2B5EF4-FFF2-40B4-BE49-F238E27FC236}">
                <a16:creationId xmlns:a16="http://schemas.microsoft.com/office/drawing/2014/main" id="{80BCA4B9-3A1C-F273-6119-B2EAACCF4CBF}"/>
              </a:ext>
            </a:extLst>
          </p:cNvPr>
          <p:cNvSpPr/>
          <p:nvPr/>
        </p:nvSpPr>
        <p:spPr>
          <a:xfrm>
            <a:off x="10626725" y="2514600"/>
            <a:ext cx="168910" cy="16891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utput-Graph-Node-2">
            <a:extLst>
              <a:ext uri="{FF2B5EF4-FFF2-40B4-BE49-F238E27FC236}">
                <a16:creationId xmlns:a16="http://schemas.microsoft.com/office/drawing/2014/main" id="{A58A8BE4-8134-3AD5-90E2-8A0DECA621BE}"/>
              </a:ext>
            </a:extLst>
          </p:cNvPr>
          <p:cNvSpPr/>
          <p:nvPr/>
        </p:nvSpPr>
        <p:spPr>
          <a:xfrm>
            <a:off x="10988675" y="2731770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utput-Graph-Node-3">
            <a:extLst>
              <a:ext uri="{FF2B5EF4-FFF2-40B4-BE49-F238E27FC236}">
                <a16:creationId xmlns:a16="http://schemas.microsoft.com/office/drawing/2014/main" id="{254971C7-61D0-96F0-8320-98E719B26861}"/>
              </a:ext>
            </a:extLst>
          </p:cNvPr>
          <p:cNvSpPr/>
          <p:nvPr/>
        </p:nvSpPr>
        <p:spPr>
          <a:xfrm>
            <a:off x="10481945" y="3141980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utput-Graph-Node-4">
            <a:extLst>
              <a:ext uri="{FF2B5EF4-FFF2-40B4-BE49-F238E27FC236}">
                <a16:creationId xmlns:a16="http://schemas.microsoft.com/office/drawing/2014/main" id="{B11F1D9D-3F62-2712-00E3-038CC3F749F3}"/>
              </a:ext>
            </a:extLst>
          </p:cNvPr>
          <p:cNvSpPr/>
          <p:nvPr/>
        </p:nvSpPr>
        <p:spPr>
          <a:xfrm>
            <a:off x="10928350" y="3154045"/>
            <a:ext cx="168910" cy="1689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B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utput-Caption">
            <a:extLst>
              <a:ext uri="{FF2B5EF4-FFF2-40B4-BE49-F238E27FC236}">
                <a16:creationId xmlns:a16="http://schemas.microsoft.com/office/drawing/2014/main" id="{AC6D9543-8CA0-1CFA-348A-777000CDCCCC}"/>
              </a:ext>
            </a:extLst>
          </p:cNvPr>
          <p:cNvSpPr txBox="1"/>
          <p:nvPr/>
        </p:nvSpPr>
        <p:spPr>
          <a:xfrm>
            <a:off x="9944100" y="3352800"/>
            <a:ext cx="165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2E8B57"/>
                </a:solidFill>
                <a:latin typeface="Aptos" panose="020B0004020202020204" pitchFamily="34" charset="0"/>
              </a:rPr>
              <a:t>Missing link recovered.</a:t>
            </a:r>
          </a:p>
        </p:txBody>
      </p:sp>
      <p:sp>
        <p:nvSpPr>
          <p:cNvPr id="87" name="Difference-0">
            <a:extLst>
              <a:ext uri="{FF2B5EF4-FFF2-40B4-BE49-F238E27FC236}">
                <a16:creationId xmlns:a16="http://schemas.microsoft.com/office/drawing/2014/main" id="{90147EBC-B345-377E-76DF-6837811BEC8F}"/>
              </a:ext>
            </a:extLst>
          </p:cNvPr>
          <p:cNvSpPr/>
          <p:nvPr/>
        </p:nvSpPr>
        <p:spPr>
          <a:xfrm>
            <a:off x="457200" y="4597400"/>
            <a:ext cx="3606800" cy="1016000"/>
          </a:xfrm>
          <a:prstGeom prst="roundRect">
            <a:avLst/>
          </a:prstGeom>
          <a:solidFill>
            <a:srgbClr val="FFF4D6"/>
          </a:solidFill>
          <a:ln w="13970">
            <a:solidFill>
              <a:srgbClr val="FF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Difference-0-Title">
            <a:extLst>
              <a:ext uri="{FF2B5EF4-FFF2-40B4-BE49-F238E27FC236}">
                <a16:creationId xmlns:a16="http://schemas.microsoft.com/office/drawing/2014/main" id="{6E198241-FEB3-1F25-B433-E3F10CCF40D2}"/>
              </a:ext>
            </a:extLst>
          </p:cNvPr>
          <p:cNvSpPr txBox="1"/>
          <p:nvPr/>
        </p:nvSpPr>
        <p:spPr>
          <a:xfrm>
            <a:off x="635000" y="4711700"/>
            <a:ext cx="3251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D99B2B"/>
                </a:solidFill>
                <a:latin typeface="Aptos" panose="020B0004020202020204" pitchFamily="34" charset="0"/>
              </a:rPr>
              <a:t>Graph stays a graph</a:t>
            </a:r>
          </a:p>
        </p:txBody>
      </p:sp>
      <p:sp>
        <p:nvSpPr>
          <p:cNvPr id="89" name="Difference-0-Body">
            <a:extLst>
              <a:ext uri="{FF2B5EF4-FFF2-40B4-BE49-F238E27FC236}">
                <a16:creationId xmlns:a16="http://schemas.microsoft.com/office/drawing/2014/main" id="{C8D927D4-1C28-61CC-1D64-AD1C1F2CDBAF}"/>
              </a:ext>
            </a:extLst>
          </p:cNvPr>
          <p:cNvSpPr txBox="1"/>
          <p:nvPr/>
        </p:nvSpPr>
        <p:spPr>
          <a:xfrm>
            <a:off x="635000" y="5041900"/>
            <a:ext cx="325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72B4D"/>
                </a:solidFill>
                <a:latin typeface="Aptos" panose="020B0004020202020204" pitchFamily="34" charset="0"/>
              </a:rPr>
              <a:t>It is not changed into sentences.</a:t>
            </a:r>
          </a:p>
        </p:txBody>
      </p:sp>
      <p:sp>
        <p:nvSpPr>
          <p:cNvPr id="90" name="Difference-1">
            <a:extLst>
              <a:ext uri="{FF2B5EF4-FFF2-40B4-BE49-F238E27FC236}">
                <a16:creationId xmlns:a16="http://schemas.microsoft.com/office/drawing/2014/main" id="{2B6F8B76-4801-BD0D-3DB1-62A9EBC30F94}"/>
              </a:ext>
            </a:extLst>
          </p:cNvPr>
          <p:cNvSpPr/>
          <p:nvPr/>
        </p:nvSpPr>
        <p:spPr>
          <a:xfrm>
            <a:off x="4292600" y="4597400"/>
            <a:ext cx="3606800" cy="1016000"/>
          </a:xfrm>
          <a:prstGeom prst="roundRect">
            <a:avLst/>
          </a:prstGeom>
          <a:solidFill>
            <a:srgbClr val="FBEAE5"/>
          </a:solidFill>
          <a:ln w="13970">
            <a:solidFill>
              <a:srgbClr val="FBE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Difference-1-Title">
            <a:extLst>
              <a:ext uri="{FF2B5EF4-FFF2-40B4-BE49-F238E27FC236}">
                <a16:creationId xmlns:a16="http://schemas.microsoft.com/office/drawing/2014/main" id="{8D5EA7B7-C5F5-3E17-3482-313B7C91CB5D}"/>
              </a:ext>
            </a:extLst>
          </p:cNvPr>
          <p:cNvSpPr txBox="1"/>
          <p:nvPr/>
        </p:nvSpPr>
        <p:spPr>
          <a:xfrm>
            <a:off x="4470400" y="4711700"/>
            <a:ext cx="3251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E76F51"/>
                </a:solidFill>
                <a:latin typeface="Aptos" panose="020B0004020202020204" pitchFamily="34" charset="0"/>
              </a:rPr>
              <a:t>One token per node</a:t>
            </a:r>
          </a:p>
        </p:txBody>
      </p:sp>
      <p:sp>
        <p:nvSpPr>
          <p:cNvPr id="92" name="Difference-1-Body">
            <a:extLst>
              <a:ext uri="{FF2B5EF4-FFF2-40B4-BE49-F238E27FC236}">
                <a16:creationId xmlns:a16="http://schemas.microsoft.com/office/drawing/2014/main" id="{A6FC885A-261B-C755-C854-D888338B812B}"/>
              </a:ext>
            </a:extLst>
          </p:cNvPr>
          <p:cNvSpPr txBox="1"/>
          <p:nvPr/>
        </p:nvSpPr>
        <p:spPr>
          <a:xfrm>
            <a:off x="4470400" y="5041900"/>
            <a:ext cx="325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72B4D"/>
                </a:solidFill>
                <a:latin typeface="Aptos" panose="020B0004020202020204" pitchFamily="34" charset="0"/>
              </a:rPr>
              <a:t>Each token keeps that node's raw connection pattern.</a:t>
            </a:r>
          </a:p>
        </p:txBody>
      </p:sp>
      <p:sp>
        <p:nvSpPr>
          <p:cNvPr id="93" name="Difference-2">
            <a:extLst>
              <a:ext uri="{FF2B5EF4-FFF2-40B4-BE49-F238E27FC236}">
                <a16:creationId xmlns:a16="http://schemas.microsoft.com/office/drawing/2014/main" id="{C71C6E41-EC7D-1C01-DF4F-2FB9859EBB03}"/>
              </a:ext>
            </a:extLst>
          </p:cNvPr>
          <p:cNvSpPr/>
          <p:nvPr/>
        </p:nvSpPr>
        <p:spPr>
          <a:xfrm>
            <a:off x="8128000" y="4597400"/>
            <a:ext cx="3606800" cy="1016000"/>
          </a:xfrm>
          <a:prstGeom prst="roundRect">
            <a:avLst/>
          </a:prstGeom>
          <a:solidFill>
            <a:srgbClr val="E5F3EA"/>
          </a:solidFill>
          <a:ln w="13970">
            <a:solidFill>
              <a:srgbClr val="E5F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Difference-2-Title">
            <a:extLst>
              <a:ext uri="{FF2B5EF4-FFF2-40B4-BE49-F238E27FC236}">
                <a16:creationId xmlns:a16="http://schemas.microsoft.com/office/drawing/2014/main" id="{D34FFBF4-A71F-A399-7A5E-FD8A6FE0DB4D}"/>
              </a:ext>
            </a:extLst>
          </p:cNvPr>
          <p:cNvSpPr txBox="1"/>
          <p:nvPr/>
        </p:nvSpPr>
        <p:spPr>
          <a:xfrm>
            <a:off x="8305800" y="4711700"/>
            <a:ext cx="3251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2E8B57"/>
                </a:solidFill>
                <a:latin typeface="Aptos" panose="020B0004020202020204" pitchFamily="34" charset="0"/>
              </a:rPr>
              <a:t>A graph comes out</a:t>
            </a:r>
          </a:p>
        </p:txBody>
      </p:sp>
      <p:sp>
        <p:nvSpPr>
          <p:cNvPr id="95" name="Difference-2-Body">
            <a:extLst>
              <a:ext uri="{FF2B5EF4-FFF2-40B4-BE49-F238E27FC236}">
                <a16:creationId xmlns:a16="http://schemas.microsoft.com/office/drawing/2014/main" id="{3B13A840-F484-7CF6-23C6-A7B1495FE032}"/>
              </a:ext>
            </a:extLst>
          </p:cNvPr>
          <p:cNvSpPr txBox="1"/>
          <p:nvPr/>
        </p:nvSpPr>
        <p:spPr>
          <a:xfrm>
            <a:off x="8305800" y="5041900"/>
            <a:ext cx="325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72B4D"/>
                </a:solidFill>
                <a:latin typeface="Aptos" panose="020B0004020202020204" pitchFamily="34" charset="0"/>
              </a:rPr>
              <a:t>The model predicts missing links or a new network.</a:t>
            </a:r>
          </a:p>
        </p:txBody>
      </p:sp>
      <p:sp>
        <p:nvSpPr>
          <p:cNvPr id="96" name="Application-Cora">
            <a:extLst>
              <a:ext uri="{FF2B5EF4-FFF2-40B4-BE49-F238E27FC236}">
                <a16:creationId xmlns:a16="http://schemas.microsoft.com/office/drawing/2014/main" id="{CDEE50EB-7D9D-F2B7-3FF2-7DF636566F00}"/>
              </a:ext>
            </a:extLst>
          </p:cNvPr>
          <p:cNvSpPr/>
          <p:nvPr/>
        </p:nvSpPr>
        <p:spPr>
          <a:xfrm>
            <a:off x="457200" y="5791200"/>
            <a:ext cx="5334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Application-Cora-Tag">
            <a:extLst>
              <a:ext uri="{FF2B5EF4-FFF2-40B4-BE49-F238E27FC236}">
                <a16:creationId xmlns:a16="http://schemas.microsoft.com/office/drawing/2014/main" id="{8E096703-56E8-BD56-683D-8C5C49EA2E81}"/>
              </a:ext>
            </a:extLst>
          </p:cNvPr>
          <p:cNvSpPr/>
          <p:nvPr/>
        </p:nvSpPr>
        <p:spPr>
          <a:xfrm>
            <a:off x="622300" y="5956300"/>
            <a:ext cx="1117600" cy="330200"/>
          </a:xfrm>
          <a:prstGeom prst="roundRect">
            <a:avLst/>
          </a:prstGeom>
          <a:solidFill>
            <a:srgbClr val="FBEAE5"/>
          </a:solidFill>
          <a:ln w="12700">
            <a:solidFill>
              <a:srgbClr val="FBE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E76F51"/>
                </a:solidFill>
                <a:latin typeface="Aptos" panose="020B0004020202020204" pitchFamily="34" charset="0"/>
              </a:rPr>
              <a:t>FIRST TEST</a:t>
            </a:r>
          </a:p>
        </p:txBody>
      </p:sp>
      <p:sp>
        <p:nvSpPr>
          <p:cNvPr id="98" name="Application-Cora-Text">
            <a:extLst>
              <a:ext uri="{FF2B5EF4-FFF2-40B4-BE49-F238E27FC236}">
                <a16:creationId xmlns:a16="http://schemas.microsoft.com/office/drawing/2014/main" id="{52120143-23BA-C508-71FD-83CCEAADC054}"/>
              </a:ext>
            </a:extLst>
          </p:cNvPr>
          <p:cNvSpPr txBox="1"/>
          <p:nvPr/>
        </p:nvSpPr>
        <p:spPr>
          <a:xfrm>
            <a:off x="1905000" y="5918200"/>
            <a:ext cx="3683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172B4D"/>
                </a:solidFill>
                <a:latin typeface="Aptos" panose="020B0004020202020204" pitchFamily="34" charset="0"/>
              </a:rPr>
              <a:t>Hide Cora links and recover them.</a:t>
            </a:r>
          </a:p>
        </p:txBody>
      </p:sp>
      <p:sp>
        <p:nvSpPr>
          <p:cNvPr id="99" name="Application-Biomedical">
            <a:extLst>
              <a:ext uri="{FF2B5EF4-FFF2-40B4-BE49-F238E27FC236}">
                <a16:creationId xmlns:a16="http://schemas.microsoft.com/office/drawing/2014/main" id="{F69F34E6-CAB7-CE49-4FF4-EA02D0F3C08A}"/>
              </a:ext>
            </a:extLst>
          </p:cNvPr>
          <p:cNvSpPr/>
          <p:nvPr/>
        </p:nvSpPr>
        <p:spPr>
          <a:xfrm>
            <a:off x="6019800" y="5791200"/>
            <a:ext cx="5715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Application-Biomedical-Tag">
            <a:extLst>
              <a:ext uri="{FF2B5EF4-FFF2-40B4-BE49-F238E27FC236}">
                <a16:creationId xmlns:a16="http://schemas.microsoft.com/office/drawing/2014/main" id="{F0BCE6D6-4193-3147-9520-07ED319F2325}"/>
              </a:ext>
            </a:extLst>
          </p:cNvPr>
          <p:cNvSpPr/>
          <p:nvPr/>
        </p:nvSpPr>
        <p:spPr>
          <a:xfrm>
            <a:off x="6184900" y="5956300"/>
            <a:ext cx="863600" cy="330200"/>
          </a:xfrm>
          <a:prstGeom prst="roundRect">
            <a:avLst/>
          </a:prstGeom>
          <a:solidFill>
            <a:srgbClr val="E5F3EA"/>
          </a:solidFill>
          <a:ln w="12700">
            <a:solidFill>
              <a:srgbClr val="E5F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2E8B57"/>
                </a:solidFill>
                <a:latin typeface="Aptos" panose="020B0004020202020204" pitchFamily="34" charset="0"/>
              </a:rPr>
              <a:t>LATER</a:t>
            </a:r>
          </a:p>
        </p:txBody>
      </p:sp>
      <p:sp>
        <p:nvSpPr>
          <p:cNvPr id="101" name="Application-Biomedical-Text">
            <a:extLst>
              <a:ext uri="{FF2B5EF4-FFF2-40B4-BE49-F238E27FC236}">
                <a16:creationId xmlns:a16="http://schemas.microsoft.com/office/drawing/2014/main" id="{F5F476AE-E44C-C02A-CC4B-562494376C49}"/>
              </a:ext>
            </a:extLst>
          </p:cNvPr>
          <p:cNvSpPr txBox="1"/>
          <p:nvPr/>
        </p:nvSpPr>
        <p:spPr>
          <a:xfrm>
            <a:off x="7213600" y="5867400"/>
            <a:ext cx="431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72B4D"/>
                </a:solidFill>
                <a:latin typeface="Aptos" panose="020B0004020202020204" pitchFamily="34" charset="0"/>
              </a:rPr>
              <a:t>Normal patient network → </a:t>
            </a:r>
            <a:r>
              <a:rPr lang="en-US" sz="1400" b="1" dirty="0" err="1">
                <a:solidFill>
                  <a:srgbClr val="172B4D"/>
                </a:solidFill>
                <a:latin typeface="Aptos" panose="020B0004020202020204" pitchFamily="34" charset="0"/>
              </a:rPr>
              <a:t>tumour</a:t>
            </a:r>
            <a:r>
              <a:rPr lang="en-US" sz="1400" b="1" dirty="0">
                <a:solidFill>
                  <a:srgbClr val="172B4D"/>
                </a:solidFill>
                <a:latin typeface="Aptos" panose="020B0004020202020204" pitchFamily="34" charset="0"/>
              </a:rPr>
              <a:t> network → changed links and genes.</a:t>
            </a:r>
          </a:p>
        </p:txBody>
      </p:sp>
    </p:spTree>
    <p:extLst>
      <p:ext uri="{BB962C8B-B14F-4D97-AF65-F5344CB8AC3E}">
        <p14:creationId xmlns:p14="http://schemas.microsoft.com/office/powerpoint/2010/main" val="479762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244</Words>
  <Application>Microsoft Office PowerPoint</Application>
  <PresentationFormat>Widescreen</PresentationFormat>
  <Paragraphs>52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Ucchwas Talukder Utsha</dc:creator>
  <cp:lastModifiedBy>Ucchwas Talukder Utsha</cp:lastModifiedBy>
  <cp:revision>1</cp:revision>
  <dcterms:created xsi:type="dcterms:W3CDTF">2026-08-25T21:37:25Z</dcterms:created>
  <dcterms:modified xsi:type="dcterms:W3CDTF">2026-08-25T22:01:30Z</dcterms:modified>
</cp:coreProperties>
</file>